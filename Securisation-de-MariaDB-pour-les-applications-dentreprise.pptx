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4630400" cy="8229600"/>
  <p:notesSz cx="8229600" cy="14630400"/>
  <p:embeddedFontLst>
    <p:embeddedFont>
      <p:font typeface="Bricolage Grotesque Extra Bold"/>
      <p:regular r:id="rId19"/>
    </p:embeddedFont>
    <p:embeddedFont>
      <p:font typeface="Montserrat"/>
      <p:regular r:id="rId20"/>
    </p:embeddedFont>
    <p:embeddedFont>
      <p:font typeface="Montserrat"/>
      <p:regular r:id="rId21"/>
    </p:embeddedFont>
    <p:embeddedFont>
      <p:font typeface="Montserrat"/>
      <p:regular r:id="rId22"/>
    </p:embeddedFont>
    <p:embeddedFont>
      <p:font typeface="Montserrat"/>
      <p:regular r:id="rId23"/>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 Id="rId21" Type="http://schemas.openxmlformats.org/officeDocument/2006/relationships/font" Target="fonts/font3.fntdata"/><Relationship Id="rId22" Type="http://schemas.openxmlformats.org/officeDocument/2006/relationships/font" Target="fonts/font4.fntdata"/><Relationship Id="rId23" Type="http://schemas.openxmlformats.org/officeDocument/2006/relationships/font" Target="fonts/font5.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3-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image" Target="../media/image-3-9.png"/><Relationship Id="rId10" Type="http://schemas.openxmlformats.org/officeDocument/2006/relationships/image" Target="../media/image-3-10.svg"/><Relationship Id="rId11" Type="http://schemas.openxmlformats.org/officeDocument/2006/relationships/image" Target="../media/image-3-11.png"/><Relationship Id="rId12" Type="http://schemas.openxmlformats.org/officeDocument/2006/relationships/image" Target="../media/image-3-12.svg"/><Relationship Id="rId13" Type="http://schemas.openxmlformats.org/officeDocument/2006/relationships/slideLayout" Target="../slideLayouts/slideLayout4.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6.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slideLayout" Target="../slideLayouts/slideLayout7.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slideLayout" Target="../slideLayouts/slideLayout9.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0.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slideLayout" Target="../slideLayouts/slideLayout1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29600"/>
          </a:xfrm>
          <a:prstGeom prst="rect">
            <a:avLst/>
          </a:prstGeom>
        </p:spPr>
      </p:pic>
      <p:sp>
        <p:nvSpPr>
          <p:cNvPr id="3" name="Text 0"/>
          <p:cNvSpPr/>
          <p:nvPr/>
        </p:nvSpPr>
        <p:spPr>
          <a:xfrm>
            <a:off x="6280190" y="700326"/>
            <a:ext cx="7556421" cy="2126337"/>
          </a:xfrm>
          <a:prstGeom prst="rect">
            <a:avLst/>
          </a:prstGeom>
          <a:noFill/>
          <a:ln/>
        </p:spPr>
        <p:txBody>
          <a:bodyPr wrap="square" lIns="0" tIns="0" rIns="0" bIns="0" rtlCol="0" anchor="t"/>
          <a:lstStyle/>
          <a:p>
            <a:pPr algn="l" indent="0" marL="0">
              <a:lnSpc>
                <a:spcPts val="5550"/>
              </a:lnSpc>
              <a:buNone/>
            </a:pPr>
            <a:r>
              <a:rPr lang="en-US" sz="4450" b="1" dirty="0">
                <a:solidFill>
                  <a:srgbClr val="EEAEF6"/>
                </a:solidFill>
                <a:latin typeface="Bricolage Grotesque Extra Bold" pitchFamily="34" charset="0"/>
                <a:ea typeface="Bricolage Grotesque Extra Bold" pitchFamily="34" charset="-122"/>
                <a:cs typeface="Bricolage Grotesque Extra Bold" pitchFamily="34" charset="-120"/>
              </a:rPr>
              <a:t>Sécurisation de MariaDB pour les applications d'entreprise</a:t>
            </a:r>
            <a:endParaRPr lang="en-US" sz="4450" dirty="0"/>
          </a:p>
        </p:txBody>
      </p:sp>
      <p:pic>
        <p:nvPicPr>
          <p:cNvPr id="4" name="Image 1" descr="preencoded.png">    </p:cNvPr>
          <p:cNvPicPr>
            <a:picLocks noChangeAspect="1"/>
          </p:cNvPicPr>
          <p:nvPr/>
        </p:nvPicPr>
        <p:blipFill>
          <a:blip r:embed="rId2"/>
          <a:stretch>
            <a:fillRect/>
          </a:stretch>
        </p:blipFill>
        <p:spPr>
          <a:xfrm>
            <a:off x="6280190" y="3421975"/>
            <a:ext cx="1635085" cy="1635085"/>
          </a:xfrm>
          <a:prstGeom prst="rect">
            <a:avLst/>
          </a:prstGeom>
        </p:spPr>
      </p:pic>
      <p:pic>
        <p:nvPicPr>
          <p:cNvPr id="5" name="Image 2" descr="preencoded.png">    </p:cNvPr>
          <p:cNvPicPr>
            <a:picLocks noChangeAspect="1"/>
          </p:cNvPicPr>
          <p:nvPr/>
        </p:nvPicPr>
        <p:blipFill>
          <a:blip r:embed="rId3"/>
          <a:stretch>
            <a:fillRect/>
          </a:stretch>
        </p:blipFill>
        <p:spPr>
          <a:xfrm>
            <a:off x="11072574" y="3421975"/>
            <a:ext cx="2700218" cy="1602462"/>
          </a:xfrm>
          <a:prstGeom prst="rect">
            <a:avLst/>
          </a:prstGeom>
        </p:spPr>
      </p:pic>
      <p:sp>
        <p:nvSpPr>
          <p:cNvPr id="6" name="Text 1"/>
          <p:cNvSpPr/>
          <p:nvPr/>
        </p:nvSpPr>
        <p:spPr>
          <a:xfrm>
            <a:off x="6280190" y="5567363"/>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E5DCE6"/>
                </a:solidFill>
                <a:latin typeface="Montserrat" pitchFamily="34" charset="0"/>
                <a:ea typeface="Montserrat" pitchFamily="34" charset="-122"/>
                <a:cs typeface="Montserrat" pitchFamily="34" charset="-120"/>
              </a:rPr>
              <a:t>Par Jenathan BEYEME</a:t>
            </a:r>
            <a:endParaRPr lang="en-US" sz="1750" dirty="0"/>
          </a:p>
        </p:txBody>
      </p:sp>
      <p:sp>
        <p:nvSpPr>
          <p:cNvPr id="7" name="Text 2"/>
          <p:cNvSpPr/>
          <p:nvPr/>
        </p:nvSpPr>
        <p:spPr>
          <a:xfrm>
            <a:off x="6280190" y="6185416"/>
            <a:ext cx="7556421" cy="725805"/>
          </a:xfrm>
          <a:prstGeom prst="rect">
            <a:avLst/>
          </a:prstGeom>
          <a:noFill/>
          <a:ln/>
        </p:spPr>
        <p:txBody>
          <a:bodyPr wrap="square" lIns="0" tIns="0" rIns="0" bIns="0" rtlCol="0" anchor="t"/>
          <a:lstStyle/>
          <a:p>
            <a:pPr algn="l" indent="0" marL="0">
              <a:lnSpc>
                <a:spcPts val="2850"/>
              </a:lnSpc>
              <a:buNone/>
            </a:pPr>
            <a:r>
              <a:rPr lang="en-US" sz="1750" dirty="0">
                <a:solidFill>
                  <a:srgbClr val="E5DCE6"/>
                </a:solidFill>
                <a:latin typeface="Montserrat" pitchFamily="34" charset="0"/>
                <a:ea typeface="Montserrat" pitchFamily="34" charset="-122"/>
                <a:cs typeface="Montserrat" pitchFamily="34" charset="-120"/>
              </a:rPr>
              <a:t>Mon guide complet pour déployer et sécuriser une base de données MariaDB pour les applications d'entreprise internes</a:t>
            </a:r>
            <a:endParaRPr lang="en-US" sz="1750" dirty="0"/>
          </a:p>
        </p:txBody>
      </p:sp>
      <p:sp>
        <p:nvSpPr>
          <p:cNvPr id="8" name="Text 3"/>
          <p:cNvSpPr/>
          <p:nvPr/>
        </p:nvSpPr>
        <p:spPr>
          <a:xfrm>
            <a:off x="6280190" y="7166372"/>
            <a:ext cx="7556421" cy="362903"/>
          </a:xfrm>
          <a:prstGeom prst="rect">
            <a:avLst/>
          </a:prstGeom>
          <a:noFill/>
          <a:ln/>
        </p:spPr>
        <p:txBody>
          <a:bodyPr wrap="none" lIns="0" tIns="0" rIns="0" bIns="0" rtlCol="0" anchor="t"/>
          <a:lstStyle/>
          <a:p>
            <a:pPr algn="r" indent="0" marL="0">
              <a:lnSpc>
                <a:spcPts val="2850"/>
              </a:lnSpc>
              <a:buNone/>
            </a:pPr>
            <a:r>
              <a:rPr lang="en-US" sz="1750" dirty="0">
                <a:solidFill>
                  <a:srgbClr val="E5DCE6"/>
                </a:solidFill>
                <a:latin typeface="Montserrat" pitchFamily="34" charset="0"/>
                <a:ea typeface="Montserrat" pitchFamily="34" charset="-122"/>
                <a:cs typeface="Montserrat" pitchFamily="34" charset="-120"/>
              </a:rPr>
              <a:t>Page 1</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274326"/>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EEAEF6"/>
                </a:solidFill>
                <a:latin typeface="Bricolage Grotesque Extra Bold" pitchFamily="34" charset="0"/>
                <a:ea typeface="Bricolage Grotesque Extra Bold" pitchFamily="34" charset="-122"/>
                <a:cs typeface="Bricolage Grotesque Extra Bold" pitchFamily="34" charset="-120"/>
              </a:rPr>
              <a:t>Sommaire</a:t>
            </a:r>
            <a:endParaRPr lang="en-US" sz="4450" dirty="0"/>
          </a:p>
        </p:txBody>
      </p:sp>
      <p:sp>
        <p:nvSpPr>
          <p:cNvPr id="3" name="Text 1"/>
          <p:cNvSpPr/>
          <p:nvPr/>
        </p:nvSpPr>
        <p:spPr>
          <a:xfrm>
            <a:off x="793790" y="2436733"/>
            <a:ext cx="13042821" cy="362903"/>
          </a:xfrm>
          <a:prstGeom prst="rect">
            <a:avLst/>
          </a:prstGeom>
          <a:noFill/>
          <a:ln/>
        </p:spPr>
        <p:txBody>
          <a:bodyPr wrap="none" lIns="0" tIns="0" rIns="0" bIns="0" rtlCol="0" anchor="t"/>
          <a:lstStyle/>
          <a:p>
            <a:pPr algn="l" marL="342900" indent="-342900">
              <a:lnSpc>
                <a:spcPts val="2850"/>
              </a:lnSpc>
              <a:buSzPct val="100000"/>
              <a:buFont typeface="+mj-lt"/>
              <a:buAutoNum type="arabicPeriod" startAt="1"/>
            </a:pPr>
            <a:r>
              <a:rPr lang="en-US" sz="1750" dirty="0">
                <a:solidFill>
                  <a:srgbClr val="E5DCE6"/>
                </a:solidFill>
                <a:latin typeface="Montserrat" pitchFamily="34" charset="0"/>
                <a:ea typeface="Montserrat" pitchFamily="34" charset="-122"/>
                <a:cs typeface="Montserrat" pitchFamily="34" charset="-120"/>
              </a:rPr>
              <a:t>Objectifs du Projet</a:t>
            </a:r>
            <a:endParaRPr lang="en-US" sz="1750" dirty="0"/>
          </a:p>
        </p:txBody>
      </p:sp>
      <p:sp>
        <p:nvSpPr>
          <p:cNvPr id="4" name="Text 2"/>
          <p:cNvSpPr/>
          <p:nvPr/>
        </p:nvSpPr>
        <p:spPr>
          <a:xfrm>
            <a:off x="793790" y="2878931"/>
            <a:ext cx="13042821" cy="362903"/>
          </a:xfrm>
          <a:prstGeom prst="rect">
            <a:avLst/>
          </a:prstGeom>
          <a:noFill/>
          <a:ln/>
        </p:spPr>
        <p:txBody>
          <a:bodyPr wrap="none" lIns="0" tIns="0" rIns="0" bIns="0" rtlCol="0" anchor="t"/>
          <a:lstStyle/>
          <a:p>
            <a:pPr algn="l" marL="342900" indent="-342900">
              <a:lnSpc>
                <a:spcPts val="2850"/>
              </a:lnSpc>
              <a:buSzPct val="100000"/>
              <a:buFont typeface="+mj-lt"/>
              <a:buAutoNum type="arabicPeriod" startAt="2"/>
            </a:pPr>
            <a:r>
              <a:rPr lang="en-US" sz="1750" dirty="0">
                <a:solidFill>
                  <a:srgbClr val="E5DCE6"/>
                </a:solidFill>
                <a:latin typeface="Montserrat" pitchFamily="34" charset="0"/>
                <a:ea typeface="Montserrat" pitchFamily="34" charset="-122"/>
                <a:cs typeface="Montserrat" pitchFamily="34" charset="-120"/>
              </a:rPr>
              <a:t>Construction de la Base : Structure de la Base de Données</a:t>
            </a:r>
            <a:endParaRPr lang="en-US" sz="1750" dirty="0"/>
          </a:p>
        </p:txBody>
      </p:sp>
      <p:sp>
        <p:nvSpPr>
          <p:cNvPr id="5" name="Text 3"/>
          <p:cNvSpPr/>
          <p:nvPr/>
        </p:nvSpPr>
        <p:spPr>
          <a:xfrm>
            <a:off x="793790" y="3321129"/>
            <a:ext cx="13042821" cy="362903"/>
          </a:xfrm>
          <a:prstGeom prst="rect">
            <a:avLst/>
          </a:prstGeom>
          <a:noFill/>
          <a:ln/>
        </p:spPr>
        <p:txBody>
          <a:bodyPr wrap="none" lIns="0" tIns="0" rIns="0" bIns="0" rtlCol="0" anchor="t"/>
          <a:lstStyle/>
          <a:p>
            <a:pPr algn="l" marL="342900" indent="-342900">
              <a:lnSpc>
                <a:spcPts val="2850"/>
              </a:lnSpc>
              <a:buSzPct val="100000"/>
              <a:buFont typeface="+mj-lt"/>
              <a:buAutoNum type="arabicPeriod" startAt="3"/>
            </a:pPr>
            <a:r>
              <a:rPr lang="en-US" sz="1750" dirty="0">
                <a:solidFill>
                  <a:srgbClr val="E5DCE6"/>
                </a:solidFill>
                <a:latin typeface="Montserrat" pitchFamily="34" charset="0"/>
                <a:ea typeface="Montserrat" pitchFamily="34" charset="-122"/>
                <a:cs typeface="Montserrat" pitchFamily="34" charset="-120"/>
              </a:rPr>
              <a:t>Architecture du schéma relationnel</a:t>
            </a:r>
            <a:endParaRPr lang="en-US" sz="1750" dirty="0"/>
          </a:p>
        </p:txBody>
      </p:sp>
      <p:sp>
        <p:nvSpPr>
          <p:cNvPr id="6" name="Text 4"/>
          <p:cNvSpPr/>
          <p:nvPr/>
        </p:nvSpPr>
        <p:spPr>
          <a:xfrm>
            <a:off x="793790" y="3763328"/>
            <a:ext cx="13042821" cy="362903"/>
          </a:xfrm>
          <a:prstGeom prst="rect">
            <a:avLst/>
          </a:prstGeom>
          <a:noFill/>
          <a:ln/>
        </p:spPr>
        <p:txBody>
          <a:bodyPr wrap="none" lIns="0" tIns="0" rIns="0" bIns="0" rtlCol="0" anchor="t"/>
          <a:lstStyle/>
          <a:p>
            <a:pPr algn="l" marL="342900" indent="-342900">
              <a:lnSpc>
                <a:spcPts val="2850"/>
              </a:lnSpc>
              <a:buSzPct val="100000"/>
              <a:buFont typeface="+mj-lt"/>
              <a:buAutoNum type="arabicPeriod" startAt="4"/>
            </a:pPr>
            <a:r>
              <a:rPr lang="en-US" sz="1750" dirty="0">
                <a:solidFill>
                  <a:srgbClr val="E5DCE6"/>
                </a:solidFill>
                <a:latin typeface="Montserrat" pitchFamily="34" charset="0"/>
                <a:ea typeface="Montserrat" pitchFamily="34" charset="-122"/>
                <a:cs typeface="Montserrat" pitchFamily="34" charset="-120"/>
              </a:rPr>
              <a:t>Données d'Exemple</a:t>
            </a:r>
            <a:endParaRPr lang="en-US" sz="1750" dirty="0"/>
          </a:p>
        </p:txBody>
      </p:sp>
      <p:sp>
        <p:nvSpPr>
          <p:cNvPr id="7" name="Text 5"/>
          <p:cNvSpPr/>
          <p:nvPr/>
        </p:nvSpPr>
        <p:spPr>
          <a:xfrm>
            <a:off x="793790" y="4205526"/>
            <a:ext cx="13042821" cy="362903"/>
          </a:xfrm>
          <a:prstGeom prst="rect">
            <a:avLst/>
          </a:prstGeom>
          <a:noFill/>
          <a:ln/>
        </p:spPr>
        <p:txBody>
          <a:bodyPr wrap="none" lIns="0" tIns="0" rIns="0" bIns="0" rtlCol="0" anchor="t"/>
          <a:lstStyle/>
          <a:p>
            <a:pPr algn="l" marL="342900" indent="-342900">
              <a:lnSpc>
                <a:spcPts val="2850"/>
              </a:lnSpc>
              <a:buSzPct val="100000"/>
              <a:buFont typeface="+mj-lt"/>
              <a:buAutoNum type="arabicPeriod" startAt="5"/>
            </a:pPr>
            <a:r>
              <a:rPr lang="en-US" sz="1750" dirty="0">
                <a:solidFill>
                  <a:srgbClr val="E5DCE6"/>
                </a:solidFill>
                <a:latin typeface="Montserrat" pitchFamily="34" charset="0"/>
                <a:ea typeface="Montserrat" pitchFamily="34" charset="-122"/>
                <a:cs typeface="Montserrat" pitchFamily="34" charset="-120"/>
              </a:rPr>
              <a:t>Requêtes de Business Intelligence</a:t>
            </a:r>
            <a:endParaRPr lang="en-US" sz="1750" dirty="0"/>
          </a:p>
        </p:txBody>
      </p:sp>
      <p:sp>
        <p:nvSpPr>
          <p:cNvPr id="8" name="Text 6"/>
          <p:cNvSpPr/>
          <p:nvPr/>
        </p:nvSpPr>
        <p:spPr>
          <a:xfrm>
            <a:off x="793790" y="4647724"/>
            <a:ext cx="13042821" cy="362903"/>
          </a:xfrm>
          <a:prstGeom prst="rect">
            <a:avLst/>
          </a:prstGeom>
          <a:noFill/>
          <a:ln/>
        </p:spPr>
        <p:txBody>
          <a:bodyPr wrap="none" lIns="0" tIns="0" rIns="0" bIns="0" rtlCol="0" anchor="t"/>
          <a:lstStyle/>
          <a:p>
            <a:pPr algn="l" marL="342900" indent="-342900">
              <a:lnSpc>
                <a:spcPts val="2850"/>
              </a:lnSpc>
              <a:buSzPct val="100000"/>
              <a:buFont typeface="+mj-lt"/>
              <a:buAutoNum type="arabicPeriod" startAt="6"/>
            </a:pPr>
            <a:r>
              <a:rPr lang="en-US" sz="1750" dirty="0">
                <a:solidFill>
                  <a:srgbClr val="E5DCE6"/>
                </a:solidFill>
                <a:latin typeface="Montserrat" pitchFamily="34" charset="0"/>
                <a:ea typeface="Montserrat" pitchFamily="34" charset="-122"/>
                <a:cs typeface="Montserrat" pitchFamily="34" charset="-120"/>
              </a:rPr>
              <a:t>Gestion des Utilisateurs &amp; Contrôle d'Accès</a:t>
            </a:r>
            <a:endParaRPr lang="en-US" sz="1750" dirty="0"/>
          </a:p>
        </p:txBody>
      </p:sp>
      <p:sp>
        <p:nvSpPr>
          <p:cNvPr id="9" name="Text 7"/>
          <p:cNvSpPr/>
          <p:nvPr/>
        </p:nvSpPr>
        <p:spPr>
          <a:xfrm>
            <a:off x="793790" y="5089922"/>
            <a:ext cx="13042821" cy="362903"/>
          </a:xfrm>
          <a:prstGeom prst="rect">
            <a:avLst/>
          </a:prstGeom>
          <a:noFill/>
          <a:ln/>
        </p:spPr>
        <p:txBody>
          <a:bodyPr wrap="none" lIns="0" tIns="0" rIns="0" bIns="0" rtlCol="0" anchor="t"/>
          <a:lstStyle/>
          <a:p>
            <a:pPr algn="l" marL="342900" indent="-342900">
              <a:lnSpc>
                <a:spcPts val="2850"/>
              </a:lnSpc>
              <a:buSzPct val="100000"/>
              <a:buFont typeface="+mj-lt"/>
              <a:buAutoNum type="arabicPeriod" startAt="7"/>
            </a:pPr>
            <a:r>
              <a:rPr lang="en-US" sz="1750" dirty="0">
                <a:solidFill>
                  <a:srgbClr val="E5DCE6"/>
                </a:solidFill>
                <a:latin typeface="Montserrat" pitchFamily="34" charset="0"/>
                <a:ea typeface="Montserrat" pitchFamily="34" charset="-122"/>
                <a:cs typeface="Montserrat" pitchFamily="34" charset="-120"/>
              </a:rPr>
              <a:t>Test et validation des permissions</a:t>
            </a:r>
            <a:endParaRPr lang="en-US" sz="1750" dirty="0"/>
          </a:p>
        </p:txBody>
      </p:sp>
      <p:sp>
        <p:nvSpPr>
          <p:cNvPr id="10" name="Text 8"/>
          <p:cNvSpPr/>
          <p:nvPr/>
        </p:nvSpPr>
        <p:spPr>
          <a:xfrm>
            <a:off x="793790" y="5532120"/>
            <a:ext cx="13042821" cy="362903"/>
          </a:xfrm>
          <a:prstGeom prst="rect">
            <a:avLst/>
          </a:prstGeom>
          <a:noFill/>
          <a:ln/>
        </p:spPr>
        <p:txBody>
          <a:bodyPr wrap="none" lIns="0" tIns="0" rIns="0" bIns="0" rtlCol="0" anchor="t"/>
          <a:lstStyle/>
          <a:p>
            <a:pPr algn="l" marL="342900" indent="-342900">
              <a:lnSpc>
                <a:spcPts val="2850"/>
              </a:lnSpc>
              <a:buSzPct val="100000"/>
              <a:buFont typeface="+mj-lt"/>
              <a:buAutoNum type="arabicPeriod" startAt="8"/>
            </a:pPr>
            <a:r>
              <a:rPr lang="en-US" sz="1750" dirty="0">
                <a:solidFill>
                  <a:srgbClr val="E5DCE6"/>
                </a:solidFill>
                <a:latin typeface="Montserrat" pitchFamily="34" charset="0"/>
                <a:ea typeface="Montserrat" pitchFamily="34" charset="-122"/>
                <a:cs typeface="Montserrat" pitchFamily="34" charset="-120"/>
              </a:rPr>
              <a:t>Sauvegarde et Récupération d'Urgence</a:t>
            </a:r>
            <a:endParaRPr lang="en-US" sz="1750" dirty="0"/>
          </a:p>
        </p:txBody>
      </p:sp>
      <p:sp>
        <p:nvSpPr>
          <p:cNvPr id="11" name="Text 9"/>
          <p:cNvSpPr/>
          <p:nvPr/>
        </p:nvSpPr>
        <p:spPr>
          <a:xfrm>
            <a:off x="793790" y="5974318"/>
            <a:ext cx="13042821" cy="362903"/>
          </a:xfrm>
          <a:prstGeom prst="rect">
            <a:avLst/>
          </a:prstGeom>
          <a:noFill/>
          <a:ln/>
        </p:spPr>
        <p:txBody>
          <a:bodyPr wrap="none" lIns="0" tIns="0" rIns="0" bIns="0" rtlCol="0" anchor="t"/>
          <a:lstStyle/>
          <a:p>
            <a:pPr algn="l" marL="342900" indent="-342900">
              <a:lnSpc>
                <a:spcPts val="2850"/>
              </a:lnSpc>
              <a:buSzPct val="100000"/>
              <a:buFont typeface="+mj-lt"/>
              <a:buAutoNum type="arabicPeriod" startAt="9"/>
            </a:pPr>
            <a:r>
              <a:rPr lang="en-US" sz="1750" dirty="0">
                <a:solidFill>
                  <a:srgbClr val="E5DCE6"/>
                </a:solidFill>
                <a:latin typeface="Montserrat" pitchFamily="34" charset="0"/>
                <a:ea typeface="Montserrat" pitchFamily="34" charset="-122"/>
                <a:cs typeface="Montserrat" pitchFamily="34" charset="-120"/>
              </a:rPr>
              <a:t>Stratégie de défense en profondeur</a:t>
            </a:r>
            <a:endParaRPr lang="en-US" sz="1750" dirty="0"/>
          </a:p>
        </p:txBody>
      </p:sp>
      <p:sp>
        <p:nvSpPr>
          <p:cNvPr id="12" name="Text 10"/>
          <p:cNvSpPr/>
          <p:nvPr/>
        </p:nvSpPr>
        <p:spPr>
          <a:xfrm>
            <a:off x="793790" y="6592372"/>
            <a:ext cx="13042821" cy="362903"/>
          </a:xfrm>
          <a:prstGeom prst="rect">
            <a:avLst/>
          </a:prstGeom>
          <a:noFill/>
          <a:ln/>
        </p:spPr>
        <p:txBody>
          <a:bodyPr wrap="none" lIns="0" tIns="0" rIns="0" bIns="0" rtlCol="0" anchor="t"/>
          <a:lstStyle/>
          <a:p>
            <a:pPr algn="r" indent="0" marL="0">
              <a:lnSpc>
                <a:spcPts val="2850"/>
              </a:lnSpc>
              <a:buNone/>
            </a:pPr>
            <a:r>
              <a:rPr lang="en-US" sz="1750" dirty="0">
                <a:solidFill>
                  <a:srgbClr val="E5DCE6"/>
                </a:solidFill>
                <a:latin typeface="Montserrat" pitchFamily="34" charset="0"/>
                <a:ea typeface="Montserrat" pitchFamily="34" charset="-122"/>
                <a:cs typeface="Montserrat" pitchFamily="34" charset="-120"/>
              </a:rPr>
              <a:t>Page 2</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1757601" y="622816"/>
            <a:ext cx="2067282" cy="330160"/>
          </a:xfrm>
          <a:prstGeom prst="roundRect">
            <a:avLst>
              <a:gd name="adj" fmla="val 17884"/>
            </a:avLst>
          </a:prstGeom>
          <a:solidFill>
            <a:srgbClr val="3E0845"/>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862971" y="717590"/>
            <a:ext cx="140494" cy="140494"/>
          </a:xfrm>
          <a:prstGeom prst="rect">
            <a:avLst/>
          </a:prstGeom>
        </p:spPr>
      </p:pic>
      <p:sp>
        <p:nvSpPr>
          <p:cNvPr id="4" name="Text 1"/>
          <p:cNvSpPr/>
          <p:nvPr/>
        </p:nvSpPr>
        <p:spPr>
          <a:xfrm>
            <a:off x="2073712" y="675442"/>
            <a:ext cx="1645801" cy="224909"/>
          </a:xfrm>
          <a:prstGeom prst="rect">
            <a:avLst/>
          </a:prstGeom>
          <a:noFill/>
          <a:ln/>
        </p:spPr>
        <p:txBody>
          <a:bodyPr wrap="none" lIns="0" tIns="0" rIns="0" bIns="0" rtlCol="0" anchor="t"/>
          <a:lstStyle/>
          <a:p>
            <a:pPr algn="l" indent="0" marL="0">
              <a:lnSpc>
                <a:spcPts val="1750"/>
              </a:lnSpc>
              <a:buNone/>
            </a:pPr>
            <a:r>
              <a:rPr lang="en-US" sz="1100" dirty="0">
                <a:solidFill>
                  <a:srgbClr val="E5DCE6"/>
                </a:solidFill>
                <a:latin typeface="Montserrat" pitchFamily="34" charset="0"/>
                <a:ea typeface="Montserrat" pitchFamily="34" charset="-122"/>
                <a:cs typeface="Montserrat" pitchFamily="34" charset="-120"/>
              </a:rPr>
              <a:t>OBJECTIFS DU PROJET</a:t>
            </a:r>
            <a:endParaRPr lang="en-US" sz="1100" dirty="0"/>
          </a:p>
        </p:txBody>
      </p:sp>
      <p:sp>
        <p:nvSpPr>
          <p:cNvPr id="5" name="Text 2"/>
          <p:cNvSpPr/>
          <p:nvPr/>
        </p:nvSpPr>
        <p:spPr>
          <a:xfrm>
            <a:off x="1757601" y="1023223"/>
            <a:ext cx="7472482" cy="549116"/>
          </a:xfrm>
          <a:prstGeom prst="rect">
            <a:avLst/>
          </a:prstGeom>
          <a:noFill/>
          <a:ln/>
        </p:spPr>
        <p:txBody>
          <a:bodyPr wrap="none" lIns="0" tIns="0" rIns="0" bIns="0" rtlCol="0" anchor="t"/>
          <a:lstStyle/>
          <a:p>
            <a:pPr algn="l" indent="0" marL="0">
              <a:lnSpc>
                <a:spcPts val="4300"/>
              </a:lnSpc>
              <a:buNone/>
            </a:pPr>
            <a:r>
              <a:rPr lang="en-US" sz="3450" b="1" dirty="0">
                <a:solidFill>
                  <a:srgbClr val="EEAEF6"/>
                </a:solidFill>
                <a:latin typeface="Bricolage Grotesque Extra Bold" pitchFamily="34" charset="0"/>
                <a:ea typeface="Bricolage Grotesque Extra Bold" pitchFamily="34" charset="-122"/>
                <a:cs typeface="Bricolage Grotesque Extra Bold" pitchFamily="34" charset="-120"/>
              </a:rPr>
              <a:t>Objectifs Critiques pour la Mission</a:t>
            </a:r>
            <a:endParaRPr lang="en-US" sz="3450" dirty="0"/>
          </a:p>
        </p:txBody>
      </p:sp>
      <p:sp>
        <p:nvSpPr>
          <p:cNvPr id="6" name="Shape 3"/>
          <p:cNvSpPr/>
          <p:nvPr/>
        </p:nvSpPr>
        <p:spPr>
          <a:xfrm>
            <a:off x="1757601" y="1835825"/>
            <a:ext cx="3587948" cy="2839403"/>
          </a:xfrm>
          <a:prstGeom prst="roundRect">
            <a:avLst>
              <a:gd name="adj" fmla="val 2599"/>
            </a:avLst>
          </a:prstGeom>
          <a:solidFill>
            <a:srgbClr val="282D5E"/>
          </a:solidFill>
          <a:ln/>
        </p:spPr>
      </p:sp>
      <p:sp>
        <p:nvSpPr>
          <p:cNvPr id="7" name="Shape 4"/>
          <p:cNvSpPr/>
          <p:nvPr/>
        </p:nvSpPr>
        <p:spPr>
          <a:xfrm>
            <a:off x="1933218" y="2011442"/>
            <a:ext cx="527090" cy="527090"/>
          </a:xfrm>
          <a:prstGeom prst="roundRect">
            <a:avLst>
              <a:gd name="adj" fmla="val 17346346"/>
            </a:avLst>
          </a:prstGeom>
          <a:solidFill>
            <a:srgbClr val="EEAEF6"/>
          </a:solidFill>
          <a:ln/>
        </p:spPr>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78117" y="2156341"/>
            <a:ext cx="237173" cy="237173"/>
          </a:xfrm>
          <a:prstGeom prst="rect">
            <a:avLst/>
          </a:prstGeom>
        </p:spPr>
      </p:pic>
      <p:sp>
        <p:nvSpPr>
          <p:cNvPr id="9" name="Text 5"/>
          <p:cNvSpPr/>
          <p:nvPr/>
        </p:nvSpPr>
        <p:spPr>
          <a:xfrm>
            <a:off x="1933218" y="2714149"/>
            <a:ext cx="2383988" cy="274558"/>
          </a:xfrm>
          <a:prstGeom prst="rect">
            <a:avLst/>
          </a:prstGeom>
          <a:noFill/>
          <a:ln/>
        </p:spPr>
        <p:txBody>
          <a:bodyPr wrap="none" lIns="0" tIns="0" rIns="0" bIns="0" rtlCol="0" anchor="t"/>
          <a:lstStyle/>
          <a:p>
            <a:pPr algn="l" indent="0" marL="0">
              <a:lnSpc>
                <a:spcPts val="2150"/>
              </a:lnSpc>
              <a:buNone/>
            </a:pPr>
            <a:r>
              <a:rPr lang="en-US" sz="1700" b="1" dirty="0">
                <a:solidFill>
                  <a:srgbClr val="E5DCE6"/>
                </a:solidFill>
                <a:latin typeface="Bricolage Grotesque Extra Bold" pitchFamily="34" charset="0"/>
                <a:ea typeface="Bricolage Grotesque Extra Bold" pitchFamily="34" charset="-122"/>
                <a:cs typeface="Bricolage Grotesque Extra Bold" pitchFamily="34" charset="-120"/>
              </a:rPr>
              <a:t>Déploiement Sécurisé</a:t>
            </a:r>
            <a:endParaRPr lang="en-US" sz="1700" dirty="0"/>
          </a:p>
        </p:txBody>
      </p:sp>
      <p:sp>
        <p:nvSpPr>
          <p:cNvPr id="10" name="Text 6"/>
          <p:cNvSpPr/>
          <p:nvPr/>
        </p:nvSpPr>
        <p:spPr>
          <a:xfrm>
            <a:off x="1933218" y="3094077"/>
            <a:ext cx="3236714" cy="1124426"/>
          </a:xfrm>
          <a:prstGeom prst="rect">
            <a:avLst/>
          </a:prstGeom>
          <a:noFill/>
          <a:ln/>
        </p:spPr>
        <p:txBody>
          <a:bodyPr wrap="square" lIns="0" tIns="0" rIns="0" bIns="0" rtlCol="0" anchor="t"/>
          <a:lstStyle/>
          <a:p>
            <a:pPr algn="l" indent="0" marL="0">
              <a:lnSpc>
                <a:spcPts val="2200"/>
              </a:lnSpc>
              <a:buNone/>
            </a:pPr>
            <a:r>
              <a:rPr lang="en-US" sz="1350" dirty="0">
                <a:solidFill>
                  <a:srgbClr val="E5DCE6"/>
                </a:solidFill>
                <a:latin typeface="Montserrat" pitchFamily="34" charset="0"/>
                <a:ea typeface="Montserrat" pitchFamily="34" charset="-122"/>
                <a:cs typeface="Montserrat" pitchFamily="34" charset="-120"/>
              </a:rPr>
              <a:t>Déployer une instance MariaDB prête pour la production avec des contrôles de sécurité et une gestion des accès de niveau entreprise</a:t>
            </a:r>
            <a:endParaRPr lang="en-US" sz="1350" dirty="0"/>
          </a:p>
        </p:txBody>
      </p:sp>
      <p:sp>
        <p:nvSpPr>
          <p:cNvPr id="11" name="Shape 7"/>
          <p:cNvSpPr/>
          <p:nvPr/>
        </p:nvSpPr>
        <p:spPr>
          <a:xfrm>
            <a:off x="5521166" y="1835825"/>
            <a:ext cx="3587948" cy="2839403"/>
          </a:xfrm>
          <a:prstGeom prst="roundRect">
            <a:avLst>
              <a:gd name="adj" fmla="val 2599"/>
            </a:avLst>
          </a:prstGeom>
          <a:solidFill>
            <a:srgbClr val="282D5E"/>
          </a:solidFill>
          <a:ln/>
        </p:spPr>
      </p:sp>
      <p:sp>
        <p:nvSpPr>
          <p:cNvPr id="12" name="Shape 8"/>
          <p:cNvSpPr/>
          <p:nvPr/>
        </p:nvSpPr>
        <p:spPr>
          <a:xfrm>
            <a:off x="5696783" y="2011442"/>
            <a:ext cx="527090" cy="527090"/>
          </a:xfrm>
          <a:prstGeom prst="roundRect">
            <a:avLst>
              <a:gd name="adj" fmla="val 17346346"/>
            </a:avLst>
          </a:prstGeom>
          <a:solidFill>
            <a:srgbClr val="EEAEF6"/>
          </a:solidFill>
          <a:ln/>
        </p:spPr>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841682" y="2156341"/>
            <a:ext cx="237173" cy="237173"/>
          </a:xfrm>
          <a:prstGeom prst="rect">
            <a:avLst/>
          </a:prstGeom>
        </p:spPr>
      </p:pic>
      <p:sp>
        <p:nvSpPr>
          <p:cNvPr id="14" name="Text 9"/>
          <p:cNvSpPr/>
          <p:nvPr/>
        </p:nvSpPr>
        <p:spPr>
          <a:xfrm>
            <a:off x="5696783" y="2714149"/>
            <a:ext cx="2196584" cy="274558"/>
          </a:xfrm>
          <a:prstGeom prst="rect">
            <a:avLst/>
          </a:prstGeom>
          <a:noFill/>
          <a:ln/>
        </p:spPr>
        <p:txBody>
          <a:bodyPr wrap="none" lIns="0" tIns="0" rIns="0" bIns="0" rtlCol="0" anchor="t"/>
          <a:lstStyle/>
          <a:p>
            <a:pPr algn="l" indent="0" marL="0">
              <a:lnSpc>
                <a:spcPts val="2150"/>
              </a:lnSpc>
              <a:buNone/>
            </a:pPr>
            <a:r>
              <a:rPr lang="en-US" sz="1700" b="1" dirty="0">
                <a:solidFill>
                  <a:srgbClr val="E5DCE6"/>
                </a:solidFill>
                <a:latin typeface="Bricolage Grotesque Extra Bold" pitchFamily="34" charset="0"/>
                <a:ea typeface="Bricolage Grotesque Extra Bold" pitchFamily="34" charset="-122"/>
                <a:cs typeface="Bricolage Grotesque Extra Bold" pitchFamily="34" charset="-120"/>
              </a:rPr>
              <a:t>Schéma Relationnel</a:t>
            </a:r>
            <a:endParaRPr lang="en-US" sz="1700" dirty="0"/>
          </a:p>
        </p:txBody>
      </p:sp>
      <p:sp>
        <p:nvSpPr>
          <p:cNvPr id="15" name="Text 10"/>
          <p:cNvSpPr/>
          <p:nvPr/>
        </p:nvSpPr>
        <p:spPr>
          <a:xfrm>
            <a:off x="5696783" y="3094077"/>
            <a:ext cx="3236714" cy="1405533"/>
          </a:xfrm>
          <a:prstGeom prst="rect">
            <a:avLst/>
          </a:prstGeom>
          <a:noFill/>
          <a:ln/>
        </p:spPr>
        <p:txBody>
          <a:bodyPr wrap="square" lIns="0" tIns="0" rIns="0" bIns="0" rtlCol="0" anchor="t"/>
          <a:lstStyle/>
          <a:p>
            <a:pPr algn="l" indent="0" marL="0">
              <a:lnSpc>
                <a:spcPts val="2200"/>
              </a:lnSpc>
              <a:buNone/>
            </a:pPr>
            <a:r>
              <a:rPr lang="en-US" sz="1350" dirty="0">
                <a:solidFill>
                  <a:srgbClr val="E5DCE6"/>
                </a:solidFill>
                <a:latin typeface="Montserrat" pitchFamily="34" charset="0"/>
                <a:ea typeface="Montserrat" pitchFamily="34" charset="-122"/>
                <a:cs typeface="Montserrat" pitchFamily="34" charset="-120"/>
              </a:rPr>
              <a:t>Concevoir et implémenter un schéma de base de données normalisé avec des relations de clés étrangères et une intégrité des données appropriées</a:t>
            </a:r>
            <a:endParaRPr lang="en-US" sz="1350" dirty="0"/>
          </a:p>
        </p:txBody>
      </p:sp>
      <p:sp>
        <p:nvSpPr>
          <p:cNvPr id="16" name="Shape 11"/>
          <p:cNvSpPr/>
          <p:nvPr/>
        </p:nvSpPr>
        <p:spPr>
          <a:xfrm>
            <a:off x="9284732" y="1835825"/>
            <a:ext cx="3588068" cy="2839403"/>
          </a:xfrm>
          <a:prstGeom prst="roundRect">
            <a:avLst>
              <a:gd name="adj" fmla="val 2599"/>
            </a:avLst>
          </a:prstGeom>
          <a:solidFill>
            <a:srgbClr val="282D5E"/>
          </a:solidFill>
          <a:ln/>
        </p:spPr>
      </p:sp>
      <p:sp>
        <p:nvSpPr>
          <p:cNvPr id="17" name="Shape 12"/>
          <p:cNvSpPr/>
          <p:nvPr/>
        </p:nvSpPr>
        <p:spPr>
          <a:xfrm>
            <a:off x="9460349" y="2011442"/>
            <a:ext cx="527090" cy="527090"/>
          </a:xfrm>
          <a:prstGeom prst="roundRect">
            <a:avLst>
              <a:gd name="adj" fmla="val 17346346"/>
            </a:avLst>
          </a:prstGeom>
          <a:solidFill>
            <a:srgbClr val="EEAEF6"/>
          </a:solidFill>
          <a:ln/>
        </p:spPr>
      </p:sp>
      <p:pic>
        <p:nvPicPr>
          <p:cNvPr id="1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05248" y="2156341"/>
            <a:ext cx="237173" cy="237173"/>
          </a:xfrm>
          <a:prstGeom prst="rect">
            <a:avLst/>
          </a:prstGeom>
        </p:spPr>
      </p:pic>
      <p:sp>
        <p:nvSpPr>
          <p:cNvPr id="19" name="Text 13"/>
          <p:cNvSpPr/>
          <p:nvPr/>
        </p:nvSpPr>
        <p:spPr>
          <a:xfrm>
            <a:off x="9460349" y="2714149"/>
            <a:ext cx="3208139" cy="274558"/>
          </a:xfrm>
          <a:prstGeom prst="rect">
            <a:avLst/>
          </a:prstGeom>
          <a:noFill/>
          <a:ln/>
        </p:spPr>
        <p:txBody>
          <a:bodyPr wrap="none" lIns="0" tIns="0" rIns="0" bIns="0" rtlCol="0" anchor="t"/>
          <a:lstStyle/>
          <a:p>
            <a:pPr algn="l" indent="0" marL="0">
              <a:lnSpc>
                <a:spcPts val="2150"/>
              </a:lnSpc>
              <a:buNone/>
            </a:pPr>
            <a:r>
              <a:rPr lang="en-US" sz="1700" b="1" dirty="0">
                <a:solidFill>
                  <a:srgbClr val="E5DCE6"/>
                </a:solidFill>
                <a:latin typeface="Bricolage Grotesque Extra Bold" pitchFamily="34" charset="0"/>
                <a:ea typeface="Bricolage Grotesque Extra Bold" pitchFamily="34" charset="-122"/>
                <a:cs typeface="Bricolage Grotesque Extra Bold" pitchFamily="34" charset="-120"/>
              </a:rPr>
              <a:t>Bonnes Pratiques de Sécurité</a:t>
            </a:r>
            <a:endParaRPr lang="en-US" sz="1700" dirty="0"/>
          </a:p>
        </p:txBody>
      </p:sp>
      <p:sp>
        <p:nvSpPr>
          <p:cNvPr id="20" name="Text 14"/>
          <p:cNvSpPr/>
          <p:nvPr/>
        </p:nvSpPr>
        <p:spPr>
          <a:xfrm>
            <a:off x="9460349" y="3094077"/>
            <a:ext cx="3236833" cy="1124426"/>
          </a:xfrm>
          <a:prstGeom prst="rect">
            <a:avLst/>
          </a:prstGeom>
          <a:noFill/>
          <a:ln/>
        </p:spPr>
        <p:txBody>
          <a:bodyPr wrap="square" lIns="0" tIns="0" rIns="0" bIns="0" rtlCol="0" anchor="t"/>
          <a:lstStyle/>
          <a:p>
            <a:pPr algn="l" indent="0" marL="0">
              <a:lnSpc>
                <a:spcPts val="2200"/>
              </a:lnSpc>
              <a:buNone/>
            </a:pPr>
            <a:r>
              <a:rPr lang="en-US" sz="1350" dirty="0">
                <a:solidFill>
                  <a:srgbClr val="E5DCE6"/>
                </a:solidFill>
                <a:latin typeface="Montserrat" pitchFamily="34" charset="0"/>
                <a:ea typeface="Montserrat" pitchFamily="34" charset="-122"/>
                <a:cs typeface="Montserrat" pitchFamily="34" charset="-120"/>
              </a:rPr>
              <a:t>Appliquer les principes de sécurité standard de l'industrie, y compris l'accès au moindre privilège et les stratégies de défense multicouches</a:t>
            </a:r>
            <a:endParaRPr lang="en-US" sz="1350" dirty="0"/>
          </a:p>
        </p:txBody>
      </p:sp>
      <p:sp>
        <p:nvSpPr>
          <p:cNvPr id="21" name="Shape 15"/>
          <p:cNvSpPr/>
          <p:nvPr/>
        </p:nvSpPr>
        <p:spPr>
          <a:xfrm>
            <a:off x="1757601" y="4850844"/>
            <a:ext cx="5469731" cy="2277189"/>
          </a:xfrm>
          <a:prstGeom prst="roundRect">
            <a:avLst>
              <a:gd name="adj" fmla="val 3241"/>
            </a:avLst>
          </a:prstGeom>
          <a:solidFill>
            <a:srgbClr val="282D5E"/>
          </a:solidFill>
          <a:ln/>
        </p:spPr>
      </p:sp>
      <p:sp>
        <p:nvSpPr>
          <p:cNvPr id="22" name="Shape 16"/>
          <p:cNvSpPr/>
          <p:nvPr/>
        </p:nvSpPr>
        <p:spPr>
          <a:xfrm>
            <a:off x="1933218" y="5026462"/>
            <a:ext cx="527090" cy="527090"/>
          </a:xfrm>
          <a:prstGeom prst="roundRect">
            <a:avLst>
              <a:gd name="adj" fmla="val 17346346"/>
            </a:avLst>
          </a:prstGeom>
          <a:solidFill>
            <a:srgbClr val="EEAEF6"/>
          </a:solidFill>
          <a:ln/>
        </p:spPr>
      </p:sp>
      <p:pic>
        <p:nvPicPr>
          <p:cNvPr id="23"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078117" y="5171361"/>
            <a:ext cx="237173" cy="237173"/>
          </a:xfrm>
          <a:prstGeom prst="rect">
            <a:avLst/>
          </a:prstGeom>
        </p:spPr>
      </p:pic>
      <p:sp>
        <p:nvSpPr>
          <p:cNvPr id="24" name="Text 17"/>
          <p:cNvSpPr/>
          <p:nvPr/>
        </p:nvSpPr>
        <p:spPr>
          <a:xfrm>
            <a:off x="1933218" y="5729168"/>
            <a:ext cx="2594253" cy="274558"/>
          </a:xfrm>
          <a:prstGeom prst="rect">
            <a:avLst/>
          </a:prstGeom>
          <a:noFill/>
          <a:ln/>
        </p:spPr>
        <p:txBody>
          <a:bodyPr wrap="none" lIns="0" tIns="0" rIns="0" bIns="0" rtlCol="0" anchor="t"/>
          <a:lstStyle/>
          <a:p>
            <a:pPr algn="l" indent="0" marL="0">
              <a:lnSpc>
                <a:spcPts val="2150"/>
              </a:lnSpc>
              <a:buNone/>
            </a:pPr>
            <a:r>
              <a:rPr lang="en-US" sz="1700" b="1" dirty="0">
                <a:solidFill>
                  <a:srgbClr val="E5DCE6"/>
                </a:solidFill>
                <a:latin typeface="Bricolage Grotesque Extra Bold" pitchFamily="34" charset="0"/>
                <a:ea typeface="Bricolage Grotesque Extra Bold" pitchFamily="34" charset="-122"/>
                <a:cs typeface="Bricolage Grotesque Extra Bold" pitchFamily="34" charset="-120"/>
              </a:rPr>
              <a:t>Gestion des Utilisateurs</a:t>
            </a:r>
            <a:endParaRPr lang="en-US" sz="1700" dirty="0"/>
          </a:p>
        </p:txBody>
      </p:sp>
      <p:sp>
        <p:nvSpPr>
          <p:cNvPr id="25" name="Text 18"/>
          <p:cNvSpPr/>
          <p:nvPr/>
        </p:nvSpPr>
        <p:spPr>
          <a:xfrm>
            <a:off x="1933218" y="6109097"/>
            <a:ext cx="5118497" cy="843320"/>
          </a:xfrm>
          <a:prstGeom prst="rect">
            <a:avLst/>
          </a:prstGeom>
          <a:noFill/>
          <a:ln/>
        </p:spPr>
        <p:txBody>
          <a:bodyPr wrap="square" lIns="0" tIns="0" rIns="0" bIns="0" rtlCol="0" anchor="t"/>
          <a:lstStyle/>
          <a:p>
            <a:pPr algn="l" indent="0" marL="0">
              <a:lnSpc>
                <a:spcPts val="2200"/>
              </a:lnSpc>
              <a:buNone/>
            </a:pPr>
            <a:r>
              <a:rPr lang="en-US" sz="1350" dirty="0">
                <a:solidFill>
                  <a:srgbClr val="E5DCE6"/>
                </a:solidFill>
                <a:latin typeface="Montserrat" pitchFamily="34" charset="0"/>
                <a:ea typeface="Montserrat" pitchFamily="34" charset="-122"/>
                <a:cs typeface="Montserrat" pitchFamily="34" charset="-120"/>
              </a:rPr>
              <a:t>Configurer un contrôle d'accès basé sur les rôles avec des autorisations granulaires adaptées aux besoins spécifiques de l'application</a:t>
            </a:r>
            <a:endParaRPr lang="en-US" sz="1350" dirty="0"/>
          </a:p>
        </p:txBody>
      </p:sp>
      <p:sp>
        <p:nvSpPr>
          <p:cNvPr id="26" name="Shape 19"/>
          <p:cNvSpPr/>
          <p:nvPr/>
        </p:nvSpPr>
        <p:spPr>
          <a:xfrm>
            <a:off x="7402949" y="4850844"/>
            <a:ext cx="5469850" cy="2277189"/>
          </a:xfrm>
          <a:prstGeom prst="roundRect">
            <a:avLst>
              <a:gd name="adj" fmla="val 3241"/>
            </a:avLst>
          </a:prstGeom>
          <a:solidFill>
            <a:srgbClr val="282D5E"/>
          </a:solidFill>
          <a:ln/>
        </p:spPr>
      </p:sp>
      <p:sp>
        <p:nvSpPr>
          <p:cNvPr id="27" name="Shape 20"/>
          <p:cNvSpPr/>
          <p:nvPr/>
        </p:nvSpPr>
        <p:spPr>
          <a:xfrm>
            <a:off x="7578566" y="5026462"/>
            <a:ext cx="527090" cy="527090"/>
          </a:xfrm>
          <a:prstGeom prst="roundRect">
            <a:avLst>
              <a:gd name="adj" fmla="val 17346346"/>
            </a:avLst>
          </a:prstGeom>
          <a:solidFill>
            <a:srgbClr val="EEAEF6"/>
          </a:solidFill>
          <a:ln/>
        </p:spPr>
      </p:sp>
      <p:pic>
        <p:nvPicPr>
          <p:cNvPr id="28"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723465" y="5171361"/>
            <a:ext cx="237173" cy="237173"/>
          </a:xfrm>
          <a:prstGeom prst="rect">
            <a:avLst/>
          </a:prstGeom>
        </p:spPr>
      </p:pic>
      <p:sp>
        <p:nvSpPr>
          <p:cNvPr id="29" name="Text 21"/>
          <p:cNvSpPr/>
          <p:nvPr/>
        </p:nvSpPr>
        <p:spPr>
          <a:xfrm>
            <a:off x="7578566" y="5729168"/>
            <a:ext cx="2627828" cy="274558"/>
          </a:xfrm>
          <a:prstGeom prst="rect">
            <a:avLst/>
          </a:prstGeom>
          <a:noFill/>
          <a:ln/>
        </p:spPr>
        <p:txBody>
          <a:bodyPr wrap="none" lIns="0" tIns="0" rIns="0" bIns="0" rtlCol="0" anchor="t"/>
          <a:lstStyle/>
          <a:p>
            <a:pPr algn="l" indent="0" marL="0">
              <a:lnSpc>
                <a:spcPts val="2150"/>
              </a:lnSpc>
              <a:buNone/>
            </a:pPr>
            <a:r>
              <a:rPr lang="en-US" sz="1700" b="1" dirty="0">
                <a:solidFill>
                  <a:srgbClr val="E5DCE6"/>
                </a:solidFill>
                <a:latin typeface="Bricolage Grotesque Extra Bold" pitchFamily="34" charset="0"/>
                <a:ea typeface="Bricolage Grotesque Extra Bold" pitchFamily="34" charset="-122"/>
                <a:cs typeface="Bricolage Grotesque Extra Bold" pitchFamily="34" charset="-120"/>
              </a:rPr>
              <a:t>Système de Sauvegarde</a:t>
            </a:r>
            <a:endParaRPr lang="en-US" sz="1700" dirty="0"/>
          </a:p>
        </p:txBody>
      </p:sp>
      <p:sp>
        <p:nvSpPr>
          <p:cNvPr id="30" name="Text 22"/>
          <p:cNvSpPr/>
          <p:nvPr/>
        </p:nvSpPr>
        <p:spPr>
          <a:xfrm>
            <a:off x="7578566" y="6109097"/>
            <a:ext cx="5118616" cy="843320"/>
          </a:xfrm>
          <a:prstGeom prst="rect">
            <a:avLst/>
          </a:prstGeom>
          <a:noFill/>
          <a:ln/>
        </p:spPr>
        <p:txBody>
          <a:bodyPr wrap="square" lIns="0" tIns="0" rIns="0" bIns="0" rtlCol="0" anchor="t"/>
          <a:lstStyle/>
          <a:p>
            <a:pPr algn="l" indent="0" marL="0">
              <a:lnSpc>
                <a:spcPts val="2200"/>
              </a:lnSpc>
              <a:buNone/>
            </a:pPr>
            <a:r>
              <a:rPr lang="en-US" sz="1350" dirty="0">
                <a:solidFill>
                  <a:srgbClr val="E5DCE6"/>
                </a:solidFill>
                <a:latin typeface="Montserrat" pitchFamily="34" charset="0"/>
                <a:ea typeface="Montserrat" pitchFamily="34" charset="-122"/>
                <a:cs typeface="Montserrat" pitchFamily="34" charset="-120"/>
              </a:rPr>
              <a:t>Implémenter des procédures de sauvegarde et de récupération fiables pour assurer la continuité des activités et la protection des données</a:t>
            </a:r>
            <a:endParaRPr lang="en-US" sz="1350" dirty="0"/>
          </a:p>
        </p:txBody>
      </p:sp>
      <p:sp>
        <p:nvSpPr>
          <p:cNvPr id="31" name="Text 23"/>
          <p:cNvSpPr/>
          <p:nvPr/>
        </p:nvSpPr>
        <p:spPr>
          <a:xfrm>
            <a:off x="1757601" y="7325678"/>
            <a:ext cx="11115199" cy="281107"/>
          </a:xfrm>
          <a:prstGeom prst="rect">
            <a:avLst/>
          </a:prstGeom>
          <a:noFill/>
          <a:ln/>
        </p:spPr>
        <p:txBody>
          <a:bodyPr wrap="none" lIns="0" tIns="0" rIns="0" bIns="0" rtlCol="0" anchor="t"/>
          <a:lstStyle/>
          <a:p>
            <a:pPr algn="r" indent="0" marL="0">
              <a:lnSpc>
                <a:spcPts val="2200"/>
              </a:lnSpc>
              <a:buNone/>
            </a:pPr>
            <a:r>
              <a:rPr lang="en-US" sz="1350" dirty="0">
                <a:solidFill>
                  <a:srgbClr val="E5DCE6"/>
                </a:solidFill>
                <a:latin typeface="Montserrat" pitchFamily="34" charset="0"/>
                <a:ea typeface="Montserrat" pitchFamily="34" charset="-122"/>
                <a:cs typeface="Montserrat" pitchFamily="34" charset="-120"/>
              </a:rPr>
              <a:t>Page 3</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1504236" y="507683"/>
            <a:ext cx="863560" cy="360521"/>
          </a:xfrm>
          <a:prstGeom prst="roundRect">
            <a:avLst>
              <a:gd name="adj" fmla="val 17125"/>
            </a:avLst>
          </a:prstGeom>
          <a:noFill/>
          <a:ln w="7620">
            <a:solidFill>
              <a:srgbClr val="EEAEF6"/>
            </a:solidFill>
            <a:prstDash val="solid"/>
          </a:ln>
        </p:spPr>
      </p:sp>
      <p:sp>
        <p:nvSpPr>
          <p:cNvPr id="3" name="Text 1"/>
          <p:cNvSpPr/>
          <p:nvPr/>
        </p:nvSpPr>
        <p:spPr>
          <a:xfrm>
            <a:off x="1621988" y="570309"/>
            <a:ext cx="628055" cy="235268"/>
          </a:xfrm>
          <a:prstGeom prst="rect">
            <a:avLst/>
          </a:prstGeom>
          <a:noFill/>
          <a:ln/>
        </p:spPr>
        <p:txBody>
          <a:bodyPr wrap="none" lIns="0" tIns="0" rIns="0" bIns="0" rtlCol="0" anchor="t"/>
          <a:lstStyle/>
          <a:p>
            <a:pPr algn="l" indent="0" marL="0">
              <a:lnSpc>
                <a:spcPts val="1850"/>
              </a:lnSpc>
              <a:buNone/>
            </a:pPr>
            <a:r>
              <a:rPr lang="en-US" sz="1150" dirty="0">
                <a:solidFill>
                  <a:srgbClr val="EEAEF6"/>
                </a:solidFill>
                <a:latin typeface="Montserrat" pitchFamily="34" charset="0"/>
                <a:ea typeface="Montserrat" pitchFamily="34" charset="-122"/>
                <a:cs typeface="Montserrat" pitchFamily="34" charset="-120"/>
              </a:rPr>
              <a:t>PARTIE 1</a:t>
            </a:r>
            <a:endParaRPr lang="en-US" sz="1150" dirty="0"/>
          </a:p>
        </p:txBody>
      </p:sp>
      <p:sp>
        <p:nvSpPr>
          <p:cNvPr id="4" name="Text 2"/>
          <p:cNvSpPr/>
          <p:nvPr/>
        </p:nvSpPr>
        <p:spPr>
          <a:xfrm>
            <a:off x="1504236" y="941665"/>
            <a:ext cx="11621810" cy="1148239"/>
          </a:xfrm>
          <a:prstGeom prst="rect">
            <a:avLst/>
          </a:prstGeom>
          <a:noFill/>
          <a:ln/>
        </p:spPr>
        <p:txBody>
          <a:bodyPr wrap="square" lIns="0" tIns="0" rIns="0" bIns="0" rtlCol="0" anchor="t"/>
          <a:lstStyle/>
          <a:p>
            <a:pPr algn="l" indent="0" marL="0">
              <a:lnSpc>
                <a:spcPts val="4500"/>
              </a:lnSpc>
              <a:buNone/>
            </a:pPr>
            <a:r>
              <a:rPr lang="en-US" sz="3600" b="1" dirty="0">
                <a:solidFill>
                  <a:srgbClr val="EEAEF6"/>
                </a:solidFill>
                <a:latin typeface="Bricolage Grotesque Extra Bold" pitchFamily="34" charset="0"/>
                <a:ea typeface="Bricolage Grotesque Extra Bold" pitchFamily="34" charset="-122"/>
                <a:cs typeface="Bricolage Grotesque Extra Bold" pitchFamily="34" charset="-120"/>
              </a:rPr>
              <a:t>Construction de la Base : Structure de la Base de Données</a:t>
            </a:r>
            <a:endParaRPr lang="en-US" sz="3600" dirty="0"/>
          </a:p>
        </p:txBody>
      </p:sp>
      <p:sp>
        <p:nvSpPr>
          <p:cNvPr id="5" name="Text 3"/>
          <p:cNvSpPr/>
          <p:nvPr/>
        </p:nvSpPr>
        <p:spPr>
          <a:xfrm>
            <a:off x="1504236" y="2549128"/>
            <a:ext cx="4224457" cy="344448"/>
          </a:xfrm>
          <a:prstGeom prst="rect">
            <a:avLst/>
          </a:prstGeom>
          <a:noFill/>
          <a:ln/>
        </p:spPr>
        <p:txBody>
          <a:bodyPr wrap="none" lIns="0" tIns="0" rIns="0" bIns="0" rtlCol="0" anchor="t"/>
          <a:lstStyle/>
          <a:p>
            <a:pPr algn="l" indent="0" marL="0">
              <a:lnSpc>
                <a:spcPts val="2700"/>
              </a:lnSpc>
              <a:buNone/>
            </a:pPr>
            <a:r>
              <a:rPr lang="en-US" sz="2150" b="1" dirty="0">
                <a:solidFill>
                  <a:srgbClr val="EEAEF6"/>
                </a:solidFill>
                <a:latin typeface="Bricolage Grotesque Extra Bold" pitchFamily="34" charset="0"/>
                <a:ea typeface="Bricolage Grotesque Extra Bold" pitchFamily="34" charset="-122"/>
                <a:cs typeface="Bricolage Grotesque Extra Bold" pitchFamily="34" charset="-120"/>
              </a:rPr>
              <a:t>Base de Données GestionStock</a:t>
            </a:r>
            <a:endParaRPr lang="en-US" sz="2150" dirty="0"/>
          </a:p>
        </p:txBody>
      </p:sp>
      <p:sp>
        <p:nvSpPr>
          <p:cNvPr id="6" name="Text 4"/>
          <p:cNvSpPr/>
          <p:nvPr/>
        </p:nvSpPr>
        <p:spPr>
          <a:xfrm>
            <a:off x="1504236" y="3077289"/>
            <a:ext cx="6190298" cy="1175385"/>
          </a:xfrm>
          <a:prstGeom prst="rect">
            <a:avLst/>
          </a:prstGeom>
          <a:noFill/>
          <a:ln/>
        </p:spPr>
        <p:txBody>
          <a:bodyPr wrap="square" lIns="0" tIns="0" rIns="0" bIns="0" rtlCol="0" anchor="t"/>
          <a:lstStyle/>
          <a:p>
            <a:pPr algn="l" indent="0" marL="0">
              <a:lnSpc>
                <a:spcPts val="2300"/>
              </a:lnSpc>
              <a:buNone/>
            </a:pPr>
            <a:r>
              <a:rPr lang="en-US" sz="1400" dirty="0">
                <a:solidFill>
                  <a:srgbClr val="E5DCE6"/>
                </a:solidFill>
                <a:latin typeface="Montserrat" pitchFamily="34" charset="0"/>
                <a:ea typeface="Montserrat" pitchFamily="34" charset="-122"/>
                <a:cs typeface="Montserrat" pitchFamily="34" charset="-120"/>
              </a:rPr>
              <a:t>Notre système de gestion des stocks utilise l'</a:t>
            </a:r>
            <a:pPr algn="l" indent="0" marL="0">
              <a:lnSpc>
                <a:spcPts val="2300"/>
              </a:lnSpc>
              <a:buNone/>
            </a:pPr>
            <a:r>
              <a:rPr lang="en-US" sz="1400" b="1" dirty="0">
                <a:solidFill>
                  <a:srgbClr val="E5DCE6"/>
                </a:solidFill>
                <a:latin typeface="Montserrat" pitchFamily="34" charset="0"/>
                <a:ea typeface="Montserrat" pitchFamily="34" charset="-122"/>
                <a:cs typeface="Montserrat" pitchFamily="34" charset="-120"/>
              </a:rPr>
              <a:t>encodage UTF8MB4</a:t>
            </a:r>
            <a:pPr algn="l" indent="0" marL="0">
              <a:lnSpc>
                <a:spcPts val="2300"/>
              </a:lnSpc>
              <a:buNone/>
            </a:pPr>
            <a:r>
              <a:rPr lang="en-US" sz="1400" dirty="0">
                <a:solidFill>
                  <a:srgbClr val="E5DCE6"/>
                </a:solidFill>
                <a:latin typeface="Montserrat" pitchFamily="34" charset="0"/>
                <a:ea typeface="Montserrat" pitchFamily="34" charset="-122"/>
                <a:cs typeface="Montserrat" pitchFamily="34" charset="-120"/>
              </a:rPr>
              <a:t> pour prendre en charge les caractères internationaux et les emojis, déployé sur le serveur MariaDB de XAMPP et géré via phpMyAdmin.</a:t>
            </a:r>
            <a:endParaRPr lang="en-US" sz="1400" dirty="0"/>
          </a:p>
        </p:txBody>
      </p:sp>
      <p:sp>
        <p:nvSpPr>
          <p:cNvPr id="7" name="Text 5"/>
          <p:cNvSpPr/>
          <p:nvPr/>
        </p:nvSpPr>
        <p:spPr>
          <a:xfrm>
            <a:off x="1504236" y="4436388"/>
            <a:ext cx="3090029" cy="287060"/>
          </a:xfrm>
          <a:prstGeom prst="rect">
            <a:avLst/>
          </a:prstGeom>
          <a:noFill/>
          <a:ln/>
        </p:spPr>
        <p:txBody>
          <a:bodyPr wrap="none" lIns="0" tIns="0" rIns="0" bIns="0" rtlCol="0" anchor="t"/>
          <a:lstStyle/>
          <a:p>
            <a:pPr algn="l" indent="0" marL="0">
              <a:lnSpc>
                <a:spcPts val="2250"/>
              </a:lnSpc>
              <a:buNone/>
            </a:pPr>
            <a:r>
              <a:rPr lang="en-US" sz="1800" b="1" dirty="0">
                <a:solidFill>
                  <a:srgbClr val="EEAEF6"/>
                </a:solidFill>
                <a:latin typeface="Bricolage Grotesque Extra Bold" pitchFamily="34" charset="0"/>
                <a:ea typeface="Bricolage Grotesque Extra Bold" pitchFamily="34" charset="-122"/>
                <a:cs typeface="Bricolage Grotesque Extra Bold" pitchFamily="34" charset="-120"/>
              </a:rPr>
              <a:t>Tables Principales Conçues</a:t>
            </a:r>
            <a:endParaRPr lang="en-US" sz="1800" dirty="0"/>
          </a:p>
        </p:txBody>
      </p:sp>
      <p:sp>
        <p:nvSpPr>
          <p:cNvPr id="8" name="Text 6"/>
          <p:cNvSpPr/>
          <p:nvPr/>
        </p:nvSpPr>
        <p:spPr>
          <a:xfrm>
            <a:off x="1504236" y="4907161"/>
            <a:ext cx="6190298" cy="587693"/>
          </a:xfrm>
          <a:prstGeom prst="rect">
            <a:avLst/>
          </a:prstGeom>
          <a:noFill/>
          <a:ln/>
        </p:spPr>
        <p:txBody>
          <a:bodyPr wrap="square" lIns="0" tIns="0" rIns="0" bIns="0" rtlCol="0" anchor="t"/>
          <a:lstStyle/>
          <a:p>
            <a:pPr algn="l" marL="342900" indent="-342900">
              <a:lnSpc>
                <a:spcPts val="2300"/>
              </a:lnSpc>
              <a:buSzPct val="100000"/>
              <a:buChar char="•"/>
            </a:pPr>
            <a:r>
              <a:rPr lang="en-US" sz="1400" b="1" dirty="0">
                <a:solidFill>
                  <a:srgbClr val="E5DCE6"/>
                </a:solidFill>
                <a:latin typeface="Montserrat" pitchFamily="34" charset="0"/>
                <a:ea typeface="Montserrat" pitchFamily="34" charset="-122"/>
                <a:cs typeface="Montserrat" pitchFamily="34" charset="-120"/>
              </a:rPr>
              <a:t>TypeProduit:</a:t>
            </a:r>
            <a:pPr algn="l" indent="0" marL="0">
              <a:lnSpc>
                <a:spcPts val="2300"/>
              </a:lnSpc>
              <a:buNone/>
            </a:pPr>
            <a:r>
              <a:rPr lang="en-US" sz="1400" dirty="0">
                <a:solidFill>
                  <a:srgbClr val="E5DCE6"/>
                </a:solidFill>
                <a:latin typeface="Montserrat" pitchFamily="34" charset="0"/>
                <a:ea typeface="Montserrat" pitchFamily="34" charset="-122"/>
                <a:cs typeface="Montserrat" pitchFamily="34" charset="-120"/>
              </a:rPr>
              <a:t> Système de classification des produits (5 catégories)</a:t>
            </a:r>
            <a:endParaRPr lang="en-US" sz="1400" dirty="0"/>
          </a:p>
        </p:txBody>
      </p:sp>
      <p:sp>
        <p:nvSpPr>
          <p:cNvPr id="9" name="Text 7"/>
          <p:cNvSpPr/>
          <p:nvPr/>
        </p:nvSpPr>
        <p:spPr>
          <a:xfrm>
            <a:off x="1504236" y="5559147"/>
            <a:ext cx="6190298" cy="587693"/>
          </a:xfrm>
          <a:prstGeom prst="rect">
            <a:avLst/>
          </a:prstGeom>
          <a:noFill/>
          <a:ln/>
        </p:spPr>
        <p:txBody>
          <a:bodyPr wrap="square" lIns="0" tIns="0" rIns="0" bIns="0" rtlCol="0" anchor="t"/>
          <a:lstStyle/>
          <a:p>
            <a:pPr algn="l" marL="342900" indent="-342900">
              <a:lnSpc>
                <a:spcPts val="2300"/>
              </a:lnSpc>
              <a:buSzPct val="100000"/>
              <a:buChar char="•"/>
            </a:pPr>
            <a:r>
              <a:rPr lang="en-US" sz="1400" b="1" dirty="0">
                <a:solidFill>
                  <a:srgbClr val="E5DCE6"/>
                </a:solidFill>
                <a:latin typeface="Montserrat" pitchFamily="34" charset="0"/>
                <a:ea typeface="Montserrat" pitchFamily="34" charset="-122"/>
                <a:cs typeface="Montserrat" pitchFamily="34" charset="-120"/>
              </a:rPr>
              <a:t>User:</a:t>
            </a:r>
            <a:pPr algn="l" indent="0" marL="0">
              <a:lnSpc>
                <a:spcPts val="2300"/>
              </a:lnSpc>
              <a:buNone/>
            </a:pPr>
            <a:r>
              <a:rPr lang="en-US" sz="1400" dirty="0">
                <a:solidFill>
                  <a:srgbClr val="E5DCE6"/>
                </a:solidFill>
                <a:latin typeface="Montserrat" pitchFamily="34" charset="0"/>
                <a:ea typeface="Montserrat" pitchFamily="34" charset="-122"/>
                <a:cs typeface="Montserrat" pitchFamily="34" charset="-120"/>
              </a:rPr>
              <a:t> Comptes utilisateurs de l'application (5 utilisateurs avec différents rôles)</a:t>
            </a:r>
            <a:endParaRPr lang="en-US" sz="1400" dirty="0"/>
          </a:p>
        </p:txBody>
      </p:sp>
      <p:sp>
        <p:nvSpPr>
          <p:cNvPr id="10" name="Text 8"/>
          <p:cNvSpPr/>
          <p:nvPr/>
        </p:nvSpPr>
        <p:spPr>
          <a:xfrm>
            <a:off x="1504236" y="6211133"/>
            <a:ext cx="6190298" cy="587693"/>
          </a:xfrm>
          <a:prstGeom prst="rect">
            <a:avLst/>
          </a:prstGeom>
          <a:noFill/>
          <a:ln/>
        </p:spPr>
        <p:txBody>
          <a:bodyPr wrap="square" lIns="0" tIns="0" rIns="0" bIns="0" rtlCol="0" anchor="t"/>
          <a:lstStyle/>
          <a:p>
            <a:pPr algn="l" marL="342900" indent="-342900">
              <a:lnSpc>
                <a:spcPts val="2300"/>
              </a:lnSpc>
              <a:buSzPct val="100000"/>
              <a:buChar char="•"/>
            </a:pPr>
            <a:r>
              <a:rPr lang="en-US" sz="1400" b="1" dirty="0">
                <a:solidFill>
                  <a:srgbClr val="E5DCE6"/>
                </a:solidFill>
                <a:latin typeface="Montserrat" pitchFamily="34" charset="0"/>
                <a:ea typeface="Montserrat" pitchFamily="34" charset="-122"/>
                <a:cs typeface="Montserrat" pitchFamily="34" charset="-120"/>
              </a:rPr>
              <a:t>Produit:</a:t>
            </a:r>
            <a:pPr algn="l" indent="0" marL="0">
              <a:lnSpc>
                <a:spcPts val="2300"/>
              </a:lnSpc>
              <a:buNone/>
            </a:pPr>
            <a:r>
              <a:rPr lang="en-US" sz="1400" dirty="0">
                <a:solidFill>
                  <a:srgbClr val="E5DCE6"/>
                </a:solidFill>
                <a:latin typeface="Montserrat" pitchFamily="34" charset="0"/>
                <a:ea typeface="Montserrat" pitchFamily="34" charset="-122"/>
                <a:cs typeface="Montserrat" pitchFamily="34" charset="-120"/>
              </a:rPr>
              <a:t> Catalogue complet de produits (20 articles toutes catégories confondues)</a:t>
            </a:r>
            <a:endParaRPr lang="en-US" sz="1400" dirty="0"/>
          </a:p>
        </p:txBody>
      </p:sp>
      <p:sp>
        <p:nvSpPr>
          <p:cNvPr id="11" name="Text 9"/>
          <p:cNvSpPr/>
          <p:nvPr/>
        </p:nvSpPr>
        <p:spPr>
          <a:xfrm>
            <a:off x="1504236" y="6863120"/>
            <a:ext cx="6190298" cy="293846"/>
          </a:xfrm>
          <a:prstGeom prst="rect">
            <a:avLst/>
          </a:prstGeom>
          <a:noFill/>
          <a:ln/>
        </p:spPr>
        <p:txBody>
          <a:bodyPr wrap="none" lIns="0" tIns="0" rIns="0" bIns="0" rtlCol="0" anchor="t"/>
          <a:lstStyle/>
          <a:p>
            <a:pPr algn="l" marL="342900" indent="-342900">
              <a:lnSpc>
                <a:spcPts val="2300"/>
              </a:lnSpc>
              <a:buSzPct val="100000"/>
              <a:buChar char="•"/>
            </a:pPr>
            <a:r>
              <a:rPr lang="en-US" sz="1400" b="1" dirty="0">
                <a:solidFill>
                  <a:srgbClr val="E5DCE6"/>
                </a:solidFill>
                <a:latin typeface="Montserrat" pitchFamily="34" charset="0"/>
                <a:ea typeface="Montserrat" pitchFamily="34" charset="-122"/>
                <a:cs typeface="Montserrat" pitchFamily="34" charset="-120"/>
              </a:rPr>
              <a:t>Facture:</a:t>
            </a:r>
            <a:pPr algn="l" indent="0" marL="0">
              <a:lnSpc>
                <a:spcPts val="2300"/>
              </a:lnSpc>
              <a:buNone/>
            </a:pPr>
            <a:r>
              <a:rPr lang="en-US" sz="1400" dirty="0">
                <a:solidFill>
                  <a:srgbClr val="E5DCE6"/>
                </a:solidFill>
                <a:latin typeface="Montserrat" pitchFamily="34" charset="0"/>
                <a:ea typeface="Montserrat" pitchFamily="34" charset="-122"/>
                <a:cs typeface="Montserrat" pitchFamily="34" charset="-120"/>
              </a:rPr>
              <a:t> Historique des transactions de vente (5 factures)</a:t>
            </a:r>
            <a:endParaRPr lang="en-US" sz="1400" dirty="0"/>
          </a:p>
        </p:txBody>
      </p:sp>
      <p:pic>
        <p:nvPicPr>
          <p:cNvPr id="12" name="Image 0" descr="preencoded.png">    </p:cNvPr>
          <p:cNvPicPr>
            <a:picLocks noChangeAspect="1"/>
          </p:cNvPicPr>
          <p:nvPr/>
        </p:nvPicPr>
        <p:blipFill>
          <a:blip r:embed="rId1"/>
          <a:stretch>
            <a:fillRect/>
          </a:stretch>
        </p:blipFill>
        <p:spPr>
          <a:xfrm>
            <a:off x="8150304" y="2572107"/>
            <a:ext cx="4983242" cy="3737372"/>
          </a:xfrm>
          <a:prstGeom prst="rect">
            <a:avLst/>
          </a:prstGeom>
        </p:spPr>
      </p:pic>
      <p:sp>
        <p:nvSpPr>
          <p:cNvPr id="13" name="Text 10"/>
          <p:cNvSpPr/>
          <p:nvPr/>
        </p:nvSpPr>
        <p:spPr>
          <a:xfrm>
            <a:off x="1504236" y="7427952"/>
            <a:ext cx="11621810" cy="293846"/>
          </a:xfrm>
          <a:prstGeom prst="rect">
            <a:avLst/>
          </a:prstGeom>
          <a:noFill/>
          <a:ln/>
        </p:spPr>
        <p:txBody>
          <a:bodyPr wrap="none" lIns="0" tIns="0" rIns="0" bIns="0" rtlCol="0" anchor="t"/>
          <a:lstStyle/>
          <a:p>
            <a:pPr algn="r" indent="0" marL="0">
              <a:lnSpc>
                <a:spcPts val="2300"/>
              </a:lnSpc>
              <a:buNone/>
            </a:pPr>
            <a:r>
              <a:rPr lang="en-US" sz="1400" dirty="0">
                <a:solidFill>
                  <a:srgbClr val="E5DCE6"/>
                </a:solidFill>
                <a:latin typeface="Montserrat" pitchFamily="34" charset="0"/>
                <a:ea typeface="Montserrat" pitchFamily="34" charset="-122"/>
                <a:cs typeface="Montserrat" pitchFamily="34" charset="-120"/>
              </a:rPr>
              <a:t>Page 4</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29600"/>
          </a:xfrm>
          <a:prstGeom prst="rect">
            <a:avLst/>
          </a:prstGeom>
        </p:spPr>
      </p:pic>
      <p:sp>
        <p:nvSpPr>
          <p:cNvPr id="3" name="Text 0"/>
          <p:cNvSpPr/>
          <p:nvPr/>
        </p:nvSpPr>
        <p:spPr>
          <a:xfrm>
            <a:off x="6046351" y="1074420"/>
            <a:ext cx="7012424" cy="500063"/>
          </a:xfrm>
          <a:prstGeom prst="rect">
            <a:avLst/>
          </a:prstGeom>
          <a:noFill/>
          <a:ln/>
        </p:spPr>
        <p:txBody>
          <a:bodyPr wrap="none" lIns="0" tIns="0" rIns="0" bIns="0" rtlCol="0" anchor="t"/>
          <a:lstStyle/>
          <a:p>
            <a:pPr algn="l" indent="0" marL="0">
              <a:lnSpc>
                <a:spcPts val="3900"/>
              </a:lnSpc>
              <a:buNone/>
            </a:pPr>
            <a:r>
              <a:rPr lang="en-US" sz="3100" b="1" dirty="0">
                <a:solidFill>
                  <a:srgbClr val="EEAEF6"/>
                </a:solidFill>
                <a:latin typeface="Bricolage Grotesque Extra Bold" pitchFamily="34" charset="0"/>
                <a:ea typeface="Bricolage Grotesque Extra Bold" pitchFamily="34" charset="-122"/>
                <a:cs typeface="Bricolage Grotesque Extra Bold" pitchFamily="34" charset="-120"/>
              </a:rPr>
              <a:t>Architecture du schéma relationnel</a:t>
            </a:r>
            <a:endParaRPr lang="en-US" sz="3100" dirty="0"/>
          </a:p>
        </p:txBody>
      </p:sp>
      <p:pic>
        <p:nvPicPr>
          <p:cNvPr id="4" name="Image 1" descr="preencoded.png">    </p:cNvPr>
          <p:cNvPicPr>
            <a:picLocks noChangeAspect="1"/>
          </p:cNvPicPr>
          <p:nvPr/>
        </p:nvPicPr>
        <p:blipFill>
          <a:blip r:embed="rId2"/>
          <a:stretch>
            <a:fillRect/>
          </a:stretch>
        </p:blipFill>
        <p:spPr>
          <a:xfrm>
            <a:off x="6046351" y="1814393"/>
            <a:ext cx="799981" cy="1177766"/>
          </a:xfrm>
          <a:prstGeom prst="rect">
            <a:avLst/>
          </a:prstGeom>
        </p:spPr>
      </p:pic>
      <p:sp>
        <p:nvSpPr>
          <p:cNvPr id="5" name="Text 1"/>
          <p:cNvSpPr/>
          <p:nvPr/>
        </p:nvSpPr>
        <p:spPr>
          <a:xfrm>
            <a:off x="7006233" y="1974294"/>
            <a:ext cx="2455664" cy="250031"/>
          </a:xfrm>
          <a:prstGeom prst="rect">
            <a:avLst/>
          </a:prstGeom>
          <a:noFill/>
          <a:ln/>
        </p:spPr>
        <p:txBody>
          <a:bodyPr wrap="none" lIns="0" tIns="0" rIns="0" bIns="0" rtlCol="0" anchor="t"/>
          <a:lstStyle/>
          <a:p>
            <a:pPr algn="l" indent="0" marL="0">
              <a:lnSpc>
                <a:spcPts val="1950"/>
              </a:lnSpc>
              <a:buNone/>
            </a:pPr>
            <a:r>
              <a:rPr lang="en-US" sz="1550" b="1" dirty="0">
                <a:solidFill>
                  <a:srgbClr val="E5DCE6"/>
                </a:solidFill>
                <a:latin typeface="Bricolage Grotesque Extra Bold" pitchFamily="34" charset="0"/>
                <a:ea typeface="Bricolage Grotesque Extra Bold" pitchFamily="34" charset="-122"/>
                <a:cs typeface="Bricolage Grotesque Extra Bold" pitchFamily="34" charset="-120"/>
              </a:rPr>
              <a:t>TypeProduit (1:N) Produit</a:t>
            </a:r>
            <a:endParaRPr lang="en-US" sz="1550" dirty="0"/>
          </a:p>
        </p:txBody>
      </p:sp>
      <p:sp>
        <p:nvSpPr>
          <p:cNvPr id="6" name="Text 2"/>
          <p:cNvSpPr/>
          <p:nvPr/>
        </p:nvSpPr>
        <p:spPr>
          <a:xfrm>
            <a:off x="7006233" y="2320290"/>
            <a:ext cx="7064216" cy="511969"/>
          </a:xfrm>
          <a:prstGeom prst="rect">
            <a:avLst/>
          </a:prstGeom>
          <a:noFill/>
          <a:ln/>
        </p:spPr>
        <p:txBody>
          <a:bodyPr wrap="square" lIns="0" tIns="0" rIns="0" bIns="0" rtlCol="0" anchor="t"/>
          <a:lstStyle/>
          <a:p>
            <a:pPr algn="l" indent="0" marL="0">
              <a:lnSpc>
                <a:spcPts val="2000"/>
              </a:lnSpc>
              <a:buNone/>
            </a:pPr>
            <a:r>
              <a:rPr lang="en-US" sz="1250" dirty="0">
                <a:solidFill>
                  <a:srgbClr val="E5DCE6"/>
                </a:solidFill>
                <a:latin typeface="Montserrat" pitchFamily="34" charset="0"/>
                <a:ea typeface="Montserrat" pitchFamily="34" charset="-122"/>
                <a:cs typeface="Montserrat" pitchFamily="34" charset="-120"/>
              </a:rPr>
              <a:t>Un type de produit peut classifier plusieurs produits, mais chaque produit appartient à un seul type</a:t>
            </a:r>
            <a:endParaRPr lang="en-US" sz="1250" dirty="0"/>
          </a:p>
        </p:txBody>
      </p:sp>
      <p:pic>
        <p:nvPicPr>
          <p:cNvPr id="7" name="Image 2" descr="preencoded.png">    </p:cNvPr>
          <p:cNvPicPr>
            <a:picLocks noChangeAspect="1"/>
          </p:cNvPicPr>
          <p:nvPr/>
        </p:nvPicPr>
        <p:blipFill>
          <a:blip r:embed="rId3"/>
          <a:stretch>
            <a:fillRect/>
          </a:stretch>
        </p:blipFill>
        <p:spPr>
          <a:xfrm>
            <a:off x="6046351" y="2992160"/>
            <a:ext cx="799981" cy="1177766"/>
          </a:xfrm>
          <a:prstGeom prst="rect">
            <a:avLst/>
          </a:prstGeom>
        </p:spPr>
      </p:pic>
      <p:sp>
        <p:nvSpPr>
          <p:cNvPr id="8" name="Text 3"/>
          <p:cNvSpPr/>
          <p:nvPr/>
        </p:nvSpPr>
        <p:spPr>
          <a:xfrm>
            <a:off x="7006233" y="3152061"/>
            <a:ext cx="2000012" cy="250031"/>
          </a:xfrm>
          <a:prstGeom prst="rect">
            <a:avLst/>
          </a:prstGeom>
          <a:noFill/>
          <a:ln/>
        </p:spPr>
        <p:txBody>
          <a:bodyPr wrap="none" lIns="0" tIns="0" rIns="0" bIns="0" rtlCol="0" anchor="t"/>
          <a:lstStyle/>
          <a:p>
            <a:pPr algn="l" indent="0" marL="0">
              <a:lnSpc>
                <a:spcPts val="1950"/>
              </a:lnSpc>
              <a:buNone/>
            </a:pPr>
            <a:r>
              <a:rPr lang="en-US" sz="1550" b="1" dirty="0">
                <a:solidFill>
                  <a:srgbClr val="E5DCE6"/>
                </a:solidFill>
                <a:latin typeface="Bricolage Grotesque Extra Bold" pitchFamily="34" charset="0"/>
                <a:ea typeface="Bricolage Grotesque Extra Bold" pitchFamily="34" charset="-122"/>
                <a:cs typeface="Bricolage Grotesque Extra Bold" pitchFamily="34" charset="-120"/>
              </a:rPr>
              <a:t>User (1:N) Facture</a:t>
            </a:r>
            <a:endParaRPr lang="en-US" sz="1550" dirty="0"/>
          </a:p>
        </p:txBody>
      </p:sp>
      <p:sp>
        <p:nvSpPr>
          <p:cNvPr id="9" name="Text 4"/>
          <p:cNvSpPr/>
          <p:nvPr/>
        </p:nvSpPr>
        <p:spPr>
          <a:xfrm>
            <a:off x="7006233" y="3498056"/>
            <a:ext cx="7064216" cy="511969"/>
          </a:xfrm>
          <a:prstGeom prst="rect">
            <a:avLst/>
          </a:prstGeom>
          <a:noFill/>
          <a:ln/>
        </p:spPr>
        <p:txBody>
          <a:bodyPr wrap="square" lIns="0" tIns="0" rIns="0" bIns="0" rtlCol="0" anchor="t"/>
          <a:lstStyle/>
          <a:p>
            <a:pPr algn="l" indent="0" marL="0">
              <a:lnSpc>
                <a:spcPts val="2000"/>
              </a:lnSpc>
              <a:buNone/>
            </a:pPr>
            <a:r>
              <a:rPr lang="en-US" sz="1250" dirty="0">
                <a:solidFill>
                  <a:srgbClr val="E5DCE6"/>
                </a:solidFill>
                <a:latin typeface="Montserrat" pitchFamily="34" charset="0"/>
                <a:ea typeface="Montserrat" pitchFamily="34" charset="-122"/>
                <a:cs typeface="Montserrat" pitchFamily="34" charset="-120"/>
              </a:rPr>
              <a:t>Les utilisateurs peuvent créer plusieurs factures au fil du temps, mais chaque facture est créée par un seul utilisateur</a:t>
            </a:r>
            <a:endParaRPr lang="en-US" sz="1250" dirty="0"/>
          </a:p>
        </p:txBody>
      </p:sp>
      <p:pic>
        <p:nvPicPr>
          <p:cNvPr id="10" name="Image 3" descr="preencoded.png">    </p:cNvPr>
          <p:cNvPicPr>
            <a:picLocks noChangeAspect="1"/>
          </p:cNvPicPr>
          <p:nvPr/>
        </p:nvPicPr>
        <p:blipFill>
          <a:blip r:embed="rId4"/>
          <a:stretch>
            <a:fillRect/>
          </a:stretch>
        </p:blipFill>
        <p:spPr>
          <a:xfrm>
            <a:off x="6046351" y="4169926"/>
            <a:ext cx="799981" cy="1177766"/>
          </a:xfrm>
          <a:prstGeom prst="rect">
            <a:avLst/>
          </a:prstGeom>
        </p:spPr>
      </p:pic>
      <p:sp>
        <p:nvSpPr>
          <p:cNvPr id="11" name="Text 5"/>
          <p:cNvSpPr/>
          <p:nvPr/>
        </p:nvSpPr>
        <p:spPr>
          <a:xfrm>
            <a:off x="7006233" y="4329827"/>
            <a:ext cx="2000012" cy="250031"/>
          </a:xfrm>
          <a:prstGeom prst="rect">
            <a:avLst/>
          </a:prstGeom>
          <a:noFill/>
          <a:ln/>
        </p:spPr>
        <p:txBody>
          <a:bodyPr wrap="none" lIns="0" tIns="0" rIns="0" bIns="0" rtlCol="0" anchor="t"/>
          <a:lstStyle/>
          <a:p>
            <a:pPr algn="l" indent="0" marL="0">
              <a:lnSpc>
                <a:spcPts val="1950"/>
              </a:lnSpc>
              <a:buNone/>
            </a:pPr>
            <a:r>
              <a:rPr lang="en-US" sz="1550" b="1" dirty="0">
                <a:solidFill>
                  <a:srgbClr val="E5DCE6"/>
                </a:solidFill>
                <a:latin typeface="Bricolage Grotesque Extra Bold" pitchFamily="34" charset="0"/>
                <a:ea typeface="Bricolage Grotesque Extra Bold" pitchFamily="34" charset="-122"/>
                <a:cs typeface="Bricolage Grotesque Extra Bold" pitchFamily="34" charset="-120"/>
              </a:rPr>
              <a:t>Produit (1:N) Facture</a:t>
            </a:r>
            <a:endParaRPr lang="en-US" sz="1550" dirty="0"/>
          </a:p>
        </p:txBody>
      </p:sp>
      <p:sp>
        <p:nvSpPr>
          <p:cNvPr id="12" name="Text 6"/>
          <p:cNvSpPr/>
          <p:nvPr/>
        </p:nvSpPr>
        <p:spPr>
          <a:xfrm>
            <a:off x="7006233" y="4675823"/>
            <a:ext cx="7064216" cy="511969"/>
          </a:xfrm>
          <a:prstGeom prst="rect">
            <a:avLst/>
          </a:prstGeom>
          <a:noFill/>
          <a:ln/>
        </p:spPr>
        <p:txBody>
          <a:bodyPr wrap="square" lIns="0" tIns="0" rIns="0" bIns="0" rtlCol="0" anchor="t"/>
          <a:lstStyle/>
          <a:p>
            <a:pPr algn="l" indent="0" marL="0">
              <a:lnSpc>
                <a:spcPts val="2000"/>
              </a:lnSpc>
              <a:buNone/>
            </a:pPr>
            <a:r>
              <a:rPr lang="en-US" sz="1250" dirty="0">
                <a:solidFill>
                  <a:srgbClr val="E5DCE6"/>
                </a:solidFill>
                <a:latin typeface="Montserrat" pitchFamily="34" charset="0"/>
                <a:ea typeface="Montserrat" pitchFamily="34" charset="-122"/>
                <a:cs typeface="Montserrat" pitchFamily="34" charset="-120"/>
              </a:rPr>
              <a:t>Les produits peuvent apparaître sur plusieurs factures, chaque ligne de facture faisant référence à un produit</a:t>
            </a:r>
            <a:endParaRPr lang="en-US" sz="1250" dirty="0"/>
          </a:p>
        </p:txBody>
      </p:sp>
      <p:sp>
        <p:nvSpPr>
          <p:cNvPr id="13" name="Shape 7"/>
          <p:cNvSpPr/>
          <p:nvPr/>
        </p:nvSpPr>
        <p:spPr>
          <a:xfrm>
            <a:off x="6046351" y="5527596"/>
            <a:ext cx="8024098" cy="1191577"/>
          </a:xfrm>
          <a:prstGeom prst="roundRect">
            <a:avLst>
              <a:gd name="adj" fmla="val 5640"/>
            </a:avLst>
          </a:prstGeom>
          <a:solidFill>
            <a:srgbClr val="3E0845"/>
          </a:solidFill>
          <a:ln/>
        </p:spPr>
      </p:sp>
      <p:pic>
        <p:nvPicPr>
          <p:cNvPr id="14" name="Image 4" descr="preencoded.png">    </p:cNvPr>
          <p:cNvPicPr>
            <a:picLocks noChangeAspect="1"/>
          </p:cNvPicPr>
          <p:nvPr/>
        </p:nvPicPr>
        <p:blipFill>
          <a:blip r:embed="rId5"/>
          <a:stretch>
            <a:fillRect/>
          </a:stretch>
        </p:blipFill>
        <p:spPr>
          <a:xfrm>
            <a:off x="6206252" y="5770245"/>
            <a:ext cx="199906" cy="159901"/>
          </a:xfrm>
          <a:prstGeom prst="rect">
            <a:avLst/>
          </a:prstGeom>
        </p:spPr>
      </p:pic>
      <p:sp>
        <p:nvSpPr>
          <p:cNvPr id="15" name="Text 8"/>
          <p:cNvSpPr/>
          <p:nvPr/>
        </p:nvSpPr>
        <p:spPr>
          <a:xfrm>
            <a:off x="6566059" y="5727383"/>
            <a:ext cx="7344489" cy="767953"/>
          </a:xfrm>
          <a:prstGeom prst="rect">
            <a:avLst/>
          </a:prstGeom>
          <a:noFill/>
          <a:ln/>
        </p:spPr>
        <p:txBody>
          <a:bodyPr wrap="square" lIns="0" tIns="0" rIns="0" bIns="0" rtlCol="0" anchor="t"/>
          <a:lstStyle/>
          <a:p>
            <a:pPr algn="l" indent="0" marL="0">
              <a:lnSpc>
                <a:spcPts val="2000"/>
              </a:lnSpc>
              <a:buNone/>
            </a:pPr>
            <a:r>
              <a:rPr lang="en-US" sz="1250" b="1" dirty="0">
                <a:solidFill>
                  <a:srgbClr val="FFFFFF"/>
                </a:solidFill>
                <a:latin typeface="Montserrat" pitchFamily="34" charset="0"/>
                <a:ea typeface="Montserrat" pitchFamily="34" charset="-122"/>
                <a:cs typeface="Montserrat" pitchFamily="34" charset="-120"/>
              </a:rPr>
              <a:t>Intégrité de la base de données :</a:t>
            </a:r>
            <a:pPr algn="l" indent="0" marL="0">
              <a:lnSpc>
                <a:spcPts val="2000"/>
              </a:lnSpc>
              <a:buNone/>
            </a:pPr>
            <a:r>
              <a:rPr lang="en-US" sz="1250" dirty="0">
                <a:solidFill>
                  <a:srgbClr val="FFFFFF"/>
                </a:solidFill>
                <a:latin typeface="Montserrat" pitchFamily="34" charset="0"/>
                <a:ea typeface="Montserrat" pitchFamily="34" charset="-122"/>
                <a:cs typeface="Montserrat" pitchFamily="34" charset="-120"/>
              </a:rPr>
              <a:t> Toutes les tables utilisent des clés primaires AUTO_INCREMENT. Les clés étrangères garantissent l'intégrité référentielle : Produit.id_type → TypeProduit.id, Facture.id_user → User.id, et Facture.id_produit → Produit.id</a:t>
            </a:r>
            <a:endParaRPr lang="en-US" sz="1250" dirty="0"/>
          </a:p>
        </p:txBody>
      </p:sp>
      <p:sp>
        <p:nvSpPr>
          <p:cNvPr id="16" name="Text 9"/>
          <p:cNvSpPr/>
          <p:nvPr/>
        </p:nvSpPr>
        <p:spPr>
          <a:xfrm>
            <a:off x="6046351" y="6899077"/>
            <a:ext cx="8024098" cy="255984"/>
          </a:xfrm>
          <a:prstGeom prst="rect">
            <a:avLst/>
          </a:prstGeom>
          <a:noFill/>
          <a:ln/>
        </p:spPr>
        <p:txBody>
          <a:bodyPr wrap="none" lIns="0" tIns="0" rIns="0" bIns="0" rtlCol="0" anchor="t"/>
          <a:lstStyle/>
          <a:p>
            <a:pPr algn="r" indent="0" marL="0">
              <a:lnSpc>
                <a:spcPts val="2000"/>
              </a:lnSpc>
              <a:buNone/>
            </a:pPr>
            <a:r>
              <a:rPr lang="en-US" sz="1250" dirty="0">
                <a:solidFill>
                  <a:srgbClr val="E5DCE6"/>
                </a:solidFill>
                <a:latin typeface="Montserrat" pitchFamily="34" charset="0"/>
                <a:ea typeface="Montserrat" pitchFamily="34" charset="-122"/>
                <a:cs typeface="Montserrat" pitchFamily="34" charset="-120"/>
              </a:rPr>
              <a:t>Page 5</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1107400" y="857964"/>
            <a:ext cx="2260521" cy="368856"/>
          </a:xfrm>
          <a:prstGeom prst="roundRect">
            <a:avLst>
              <a:gd name="adj" fmla="val 17881"/>
            </a:avLst>
          </a:prstGeom>
          <a:solidFill>
            <a:srgbClr val="3E0845"/>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25153" y="963930"/>
            <a:ext cx="156924" cy="156924"/>
          </a:xfrm>
          <a:prstGeom prst="rect">
            <a:avLst/>
          </a:prstGeom>
        </p:spPr>
      </p:pic>
      <p:sp>
        <p:nvSpPr>
          <p:cNvPr id="4" name="Text 1"/>
          <p:cNvSpPr/>
          <p:nvPr/>
        </p:nvSpPr>
        <p:spPr>
          <a:xfrm>
            <a:off x="1460540" y="916781"/>
            <a:ext cx="1789628" cy="251222"/>
          </a:xfrm>
          <a:prstGeom prst="rect">
            <a:avLst/>
          </a:prstGeom>
          <a:noFill/>
          <a:ln/>
        </p:spPr>
        <p:txBody>
          <a:bodyPr wrap="none" lIns="0" tIns="0" rIns="0" bIns="0" rtlCol="0" anchor="t"/>
          <a:lstStyle/>
          <a:p>
            <a:pPr algn="l" indent="0" marL="0">
              <a:lnSpc>
                <a:spcPts val="1950"/>
              </a:lnSpc>
              <a:buNone/>
            </a:pPr>
            <a:r>
              <a:rPr lang="en-US" sz="1200" dirty="0">
                <a:solidFill>
                  <a:srgbClr val="E5DCE6"/>
                </a:solidFill>
                <a:latin typeface="Montserrat" pitchFamily="34" charset="0"/>
                <a:ea typeface="Montserrat" pitchFamily="34" charset="-122"/>
                <a:cs typeface="Montserrat" pitchFamily="34" charset="-120"/>
              </a:rPr>
              <a:t>DONNÉES D'EXEMPLE</a:t>
            </a:r>
            <a:endParaRPr lang="en-US" sz="1200" dirty="0"/>
          </a:p>
        </p:txBody>
      </p:sp>
      <p:sp>
        <p:nvSpPr>
          <p:cNvPr id="5" name="Text 2"/>
          <p:cNvSpPr/>
          <p:nvPr/>
        </p:nvSpPr>
        <p:spPr>
          <a:xfrm>
            <a:off x="1107400" y="1305282"/>
            <a:ext cx="9368195" cy="613410"/>
          </a:xfrm>
          <a:prstGeom prst="rect">
            <a:avLst/>
          </a:prstGeom>
          <a:noFill/>
          <a:ln/>
        </p:spPr>
        <p:txBody>
          <a:bodyPr wrap="none" lIns="0" tIns="0" rIns="0" bIns="0" rtlCol="0" anchor="t"/>
          <a:lstStyle/>
          <a:p>
            <a:pPr algn="l" indent="0" marL="0">
              <a:lnSpc>
                <a:spcPts val="4800"/>
              </a:lnSpc>
              <a:buNone/>
            </a:pPr>
            <a:r>
              <a:rPr lang="en-US" sz="3850" b="1" dirty="0">
                <a:solidFill>
                  <a:srgbClr val="EEAEF6"/>
                </a:solidFill>
                <a:latin typeface="Bricolage Grotesque Extra Bold" pitchFamily="34" charset="0"/>
                <a:ea typeface="Bricolage Grotesque Extra Bold" pitchFamily="34" charset="-122"/>
                <a:cs typeface="Bricolage Grotesque Extra Bold" pitchFamily="34" charset="-120"/>
              </a:rPr>
              <a:t>Aperçu de la Base de Données Remplie</a:t>
            </a:r>
            <a:endParaRPr lang="en-US" sz="3850" dirty="0"/>
          </a:p>
        </p:txBody>
      </p:sp>
      <p:sp>
        <p:nvSpPr>
          <p:cNvPr id="6" name="Shape 3"/>
          <p:cNvSpPr/>
          <p:nvPr/>
        </p:nvSpPr>
        <p:spPr>
          <a:xfrm>
            <a:off x="1107400" y="2507337"/>
            <a:ext cx="6109573" cy="2076450"/>
          </a:xfrm>
          <a:prstGeom prst="roundRect">
            <a:avLst>
              <a:gd name="adj" fmla="val 5284"/>
            </a:avLst>
          </a:prstGeom>
          <a:solidFill>
            <a:srgbClr val="090E3F"/>
          </a:solidFill>
          <a:ln/>
        </p:spPr>
      </p:sp>
      <p:sp>
        <p:nvSpPr>
          <p:cNvPr id="7" name="Shape 4"/>
          <p:cNvSpPr/>
          <p:nvPr/>
        </p:nvSpPr>
        <p:spPr>
          <a:xfrm>
            <a:off x="1107400" y="2484477"/>
            <a:ext cx="6109573" cy="91440"/>
          </a:xfrm>
          <a:prstGeom prst="roundRect">
            <a:avLst>
              <a:gd name="adj" fmla="val 90161"/>
            </a:avLst>
          </a:prstGeom>
          <a:solidFill>
            <a:srgbClr val="EEAEF6"/>
          </a:solidFill>
          <a:ln/>
        </p:spPr>
      </p:sp>
      <p:sp>
        <p:nvSpPr>
          <p:cNvPr id="8" name="Shape 5"/>
          <p:cNvSpPr/>
          <p:nvPr/>
        </p:nvSpPr>
        <p:spPr>
          <a:xfrm>
            <a:off x="3867805" y="2213015"/>
            <a:ext cx="588764" cy="588764"/>
          </a:xfrm>
          <a:prstGeom prst="roundRect">
            <a:avLst>
              <a:gd name="adj" fmla="val 155308"/>
            </a:avLst>
          </a:prstGeom>
          <a:solidFill>
            <a:srgbClr val="EEAEF6"/>
          </a:solidFill>
          <a:ln/>
        </p:spPr>
      </p:sp>
      <p:sp>
        <p:nvSpPr>
          <p:cNvPr id="9" name="Text 6"/>
          <p:cNvSpPr/>
          <p:nvPr/>
        </p:nvSpPr>
        <p:spPr>
          <a:xfrm>
            <a:off x="4044375" y="2360176"/>
            <a:ext cx="235506" cy="294323"/>
          </a:xfrm>
          <a:prstGeom prst="rect">
            <a:avLst/>
          </a:prstGeom>
          <a:noFill/>
          <a:ln/>
        </p:spPr>
        <p:txBody>
          <a:bodyPr wrap="none" lIns="0" tIns="0" rIns="0" bIns="0" rtlCol="0" anchor="t"/>
          <a:lstStyle/>
          <a:p>
            <a:pPr algn="l" indent="0" marL="0">
              <a:lnSpc>
                <a:spcPts val="2950"/>
              </a:lnSpc>
              <a:buNone/>
            </a:pPr>
            <a:r>
              <a:rPr lang="en-US" sz="1850" b="1" dirty="0">
                <a:solidFill>
                  <a:srgbClr val="000000"/>
                </a:solidFill>
                <a:latin typeface="Bricolage Grotesque Extra Bold" pitchFamily="34" charset="0"/>
                <a:ea typeface="Bricolage Grotesque Extra Bold" pitchFamily="34" charset="-122"/>
                <a:cs typeface="Bricolage Grotesque Extra Bold" pitchFamily="34" charset="-120"/>
              </a:rPr>
              <a:t>1</a:t>
            </a:r>
            <a:endParaRPr lang="en-US" sz="1850" dirty="0"/>
          </a:p>
        </p:txBody>
      </p:sp>
      <p:sp>
        <p:nvSpPr>
          <p:cNvPr id="10" name="Text 7"/>
          <p:cNvSpPr/>
          <p:nvPr/>
        </p:nvSpPr>
        <p:spPr>
          <a:xfrm>
            <a:off x="1326475" y="2997994"/>
            <a:ext cx="3905250" cy="306705"/>
          </a:xfrm>
          <a:prstGeom prst="rect">
            <a:avLst/>
          </a:prstGeom>
          <a:noFill/>
          <a:ln/>
        </p:spPr>
        <p:txBody>
          <a:bodyPr wrap="none" lIns="0" tIns="0" rIns="0" bIns="0" rtlCol="0" anchor="t"/>
          <a:lstStyle/>
          <a:p>
            <a:pPr algn="l" indent="0" marL="0">
              <a:lnSpc>
                <a:spcPts val="2400"/>
              </a:lnSpc>
              <a:buNone/>
            </a:pPr>
            <a:r>
              <a:rPr lang="en-US" sz="1900" b="1" dirty="0">
                <a:solidFill>
                  <a:srgbClr val="E5DCE6"/>
                </a:solidFill>
                <a:latin typeface="Bricolage Grotesque Extra Bold" pitchFamily="34" charset="0"/>
                <a:ea typeface="Bricolage Grotesque Extra Bold" pitchFamily="34" charset="-122"/>
                <a:cs typeface="Bricolage Grotesque Extra Bold" pitchFamily="34" charset="-120"/>
              </a:rPr>
              <a:t>Types de Produits (5 Catégories)</a:t>
            </a:r>
            <a:endParaRPr lang="en-US" sz="1900" dirty="0"/>
          </a:p>
        </p:txBody>
      </p:sp>
      <p:sp>
        <p:nvSpPr>
          <p:cNvPr id="11" name="Text 8"/>
          <p:cNvSpPr/>
          <p:nvPr/>
        </p:nvSpPr>
        <p:spPr>
          <a:xfrm>
            <a:off x="1326475" y="3422452"/>
            <a:ext cx="5671423" cy="628174"/>
          </a:xfrm>
          <a:prstGeom prst="rect">
            <a:avLst/>
          </a:prstGeom>
          <a:noFill/>
          <a:ln/>
        </p:spPr>
        <p:txBody>
          <a:bodyPr wrap="square" lIns="0" tIns="0" rIns="0" bIns="0" rtlCol="0" anchor="t"/>
          <a:lstStyle/>
          <a:p>
            <a:pPr algn="l" indent="0" marL="0">
              <a:lnSpc>
                <a:spcPts val="2450"/>
              </a:lnSpc>
              <a:buNone/>
            </a:pPr>
            <a:r>
              <a:rPr lang="en-US" sz="1500" dirty="0">
                <a:solidFill>
                  <a:srgbClr val="E5DCE6"/>
                </a:solidFill>
                <a:latin typeface="Montserrat" pitchFamily="34" charset="0"/>
                <a:ea typeface="Montserrat" pitchFamily="34" charset="-122"/>
                <a:cs typeface="Montserrat" pitchFamily="34" charset="-120"/>
              </a:rPr>
              <a:t>Aliments et Boissons, Périphériques, Équipement Portable, Commutateurs Réseau et Accessoires</a:t>
            </a:r>
            <a:endParaRPr lang="en-US" sz="1500" dirty="0"/>
          </a:p>
        </p:txBody>
      </p:sp>
      <p:sp>
        <p:nvSpPr>
          <p:cNvPr id="12" name="Shape 9"/>
          <p:cNvSpPr/>
          <p:nvPr/>
        </p:nvSpPr>
        <p:spPr>
          <a:xfrm>
            <a:off x="7413188" y="2507337"/>
            <a:ext cx="6109692" cy="2076450"/>
          </a:xfrm>
          <a:prstGeom prst="roundRect">
            <a:avLst>
              <a:gd name="adj" fmla="val 5284"/>
            </a:avLst>
          </a:prstGeom>
          <a:solidFill>
            <a:srgbClr val="090E3F"/>
          </a:solidFill>
          <a:ln/>
        </p:spPr>
      </p:sp>
      <p:sp>
        <p:nvSpPr>
          <p:cNvPr id="13" name="Shape 10"/>
          <p:cNvSpPr/>
          <p:nvPr/>
        </p:nvSpPr>
        <p:spPr>
          <a:xfrm>
            <a:off x="7413188" y="2484477"/>
            <a:ext cx="6109692" cy="91440"/>
          </a:xfrm>
          <a:prstGeom prst="roundRect">
            <a:avLst>
              <a:gd name="adj" fmla="val 90161"/>
            </a:avLst>
          </a:prstGeom>
          <a:solidFill>
            <a:srgbClr val="EEAEF6"/>
          </a:solidFill>
          <a:ln/>
        </p:spPr>
      </p:sp>
      <p:sp>
        <p:nvSpPr>
          <p:cNvPr id="14" name="Shape 11"/>
          <p:cNvSpPr/>
          <p:nvPr/>
        </p:nvSpPr>
        <p:spPr>
          <a:xfrm>
            <a:off x="10173593" y="2213015"/>
            <a:ext cx="588764" cy="588764"/>
          </a:xfrm>
          <a:prstGeom prst="roundRect">
            <a:avLst>
              <a:gd name="adj" fmla="val 155308"/>
            </a:avLst>
          </a:prstGeom>
          <a:solidFill>
            <a:srgbClr val="EEAEF6"/>
          </a:solidFill>
          <a:ln/>
        </p:spPr>
      </p:sp>
      <p:sp>
        <p:nvSpPr>
          <p:cNvPr id="15" name="Text 12"/>
          <p:cNvSpPr/>
          <p:nvPr/>
        </p:nvSpPr>
        <p:spPr>
          <a:xfrm>
            <a:off x="10350163" y="2360176"/>
            <a:ext cx="235506" cy="294323"/>
          </a:xfrm>
          <a:prstGeom prst="rect">
            <a:avLst/>
          </a:prstGeom>
          <a:noFill/>
          <a:ln/>
        </p:spPr>
        <p:txBody>
          <a:bodyPr wrap="none" lIns="0" tIns="0" rIns="0" bIns="0" rtlCol="0" anchor="t"/>
          <a:lstStyle/>
          <a:p>
            <a:pPr algn="l" indent="0" marL="0">
              <a:lnSpc>
                <a:spcPts val="2950"/>
              </a:lnSpc>
              <a:buNone/>
            </a:pPr>
            <a:r>
              <a:rPr lang="en-US" sz="1850" b="1" dirty="0">
                <a:solidFill>
                  <a:srgbClr val="000000"/>
                </a:solidFill>
                <a:latin typeface="Bricolage Grotesque Extra Bold" pitchFamily="34" charset="0"/>
                <a:ea typeface="Bricolage Grotesque Extra Bold" pitchFamily="34" charset="-122"/>
                <a:cs typeface="Bricolage Grotesque Extra Bold" pitchFamily="34" charset="-120"/>
              </a:rPr>
              <a:t>2</a:t>
            </a:r>
            <a:endParaRPr lang="en-US" sz="1850" dirty="0"/>
          </a:p>
        </p:txBody>
      </p:sp>
      <p:sp>
        <p:nvSpPr>
          <p:cNvPr id="16" name="Text 13"/>
          <p:cNvSpPr/>
          <p:nvPr/>
        </p:nvSpPr>
        <p:spPr>
          <a:xfrm>
            <a:off x="7632263" y="2997994"/>
            <a:ext cx="4202787" cy="306705"/>
          </a:xfrm>
          <a:prstGeom prst="rect">
            <a:avLst/>
          </a:prstGeom>
          <a:noFill/>
          <a:ln/>
        </p:spPr>
        <p:txBody>
          <a:bodyPr wrap="none" lIns="0" tIns="0" rIns="0" bIns="0" rtlCol="0" anchor="t"/>
          <a:lstStyle/>
          <a:p>
            <a:pPr algn="l" indent="0" marL="0">
              <a:lnSpc>
                <a:spcPts val="2400"/>
              </a:lnSpc>
              <a:buNone/>
            </a:pPr>
            <a:r>
              <a:rPr lang="en-US" sz="1900" b="1" dirty="0">
                <a:solidFill>
                  <a:srgbClr val="E5DCE6"/>
                </a:solidFill>
                <a:latin typeface="Bricolage Grotesque Extra Bold" pitchFamily="34" charset="0"/>
                <a:ea typeface="Bricolage Grotesque Extra Bold" pitchFamily="34" charset="-122"/>
                <a:cs typeface="Bricolage Grotesque Extra Bold" pitchFamily="34" charset="-120"/>
              </a:rPr>
              <a:t>Catalogue de Produits (20 Articles)</a:t>
            </a:r>
            <a:endParaRPr lang="en-US" sz="1900" dirty="0"/>
          </a:p>
        </p:txBody>
      </p:sp>
      <p:sp>
        <p:nvSpPr>
          <p:cNvPr id="17" name="Text 14"/>
          <p:cNvSpPr/>
          <p:nvPr/>
        </p:nvSpPr>
        <p:spPr>
          <a:xfrm>
            <a:off x="7632263" y="3422452"/>
            <a:ext cx="5671542" cy="942261"/>
          </a:xfrm>
          <a:prstGeom prst="rect">
            <a:avLst/>
          </a:prstGeom>
          <a:noFill/>
          <a:ln/>
        </p:spPr>
        <p:txBody>
          <a:bodyPr wrap="square" lIns="0" tIns="0" rIns="0" bIns="0" rtlCol="0" anchor="t"/>
          <a:lstStyle/>
          <a:p>
            <a:pPr algn="l" indent="0" marL="0">
              <a:lnSpc>
                <a:spcPts val="2450"/>
              </a:lnSpc>
              <a:buNone/>
            </a:pPr>
            <a:r>
              <a:rPr lang="en-US" sz="1500" dirty="0">
                <a:solidFill>
                  <a:srgbClr val="E5DCE6"/>
                </a:solidFill>
                <a:latin typeface="Montserrat" pitchFamily="34" charset="0"/>
                <a:ea typeface="Montserrat" pitchFamily="34" charset="-122"/>
                <a:cs typeface="Montserrat" pitchFamily="34" charset="-120"/>
              </a:rPr>
              <a:t>Café Premium, Thé Vert, Souris Sans Fil, Clavier RGB, Ordinateur Portable Dell XPS, MacBook Air, Commutateur Cisco 24 ports, Câble HDMI, Hub USB-C</a:t>
            </a:r>
            <a:endParaRPr lang="en-US" sz="1500" dirty="0"/>
          </a:p>
        </p:txBody>
      </p:sp>
      <p:sp>
        <p:nvSpPr>
          <p:cNvPr id="18" name="Shape 15"/>
          <p:cNvSpPr/>
          <p:nvPr/>
        </p:nvSpPr>
        <p:spPr>
          <a:xfrm>
            <a:off x="1107400" y="5074325"/>
            <a:ext cx="6109573" cy="1762363"/>
          </a:xfrm>
          <a:prstGeom prst="roundRect">
            <a:avLst>
              <a:gd name="adj" fmla="val 6226"/>
            </a:avLst>
          </a:prstGeom>
          <a:solidFill>
            <a:srgbClr val="090E3F"/>
          </a:solidFill>
          <a:ln/>
        </p:spPr>
      </p:sp>
      <p:sp>
        <p:nvSpPr>
          <p:cNvPr id="19" name="Shape 16"/>
          <p:cNvSpPr/>
          <p:nvPr/>
        </p:nvSpPr>
        <p:spPr>
          <a:xfrm>
            <a:off x="1107400" y="5051465"/>
            <a:ext cx="6109573" cy="91440"/>
          </a:xfrm>
          <a:prstGeom prst="roundRect">
            <a:avLst>
              <a:gd name="adj" fmla="val 90161"/>
            </a:avLst>
          </a:prstGeom>
          <a:solidFill>
            <a:srgbClr val="EEAEF6"/>
          </a:solidFill>
          <a:ln/>
        </p:spPr>
      </p:sp>
      <p:sp>
        <p:nvSpPr>
          <p:cNvPr id="20" name="Shape 17"/>
          <p:cNvSpPr/>
          <p:nvPr/>
        </p:nvSpPr>
        <p:spPr>
          <a:xfrm>
            <a:off x="3867805" y="4780002"/>
            <a:ext cx="588764" cy="588764"/>
          </a:xfrm>
          <a:prstGeom prst="roundRect">
            <a:avLst>
              <a:gd name="adj" fmla="val 155308"/>
            </a:avLst>
          </a:prstGeom>
          <a:solidFill>
            <a:srgbClr val="EEAEF6"/>
          </a:solidFill>
          <a:ln/>
        </p:spPr>
      </p:sp>
      <p:sp>
        <p:nvSpPr>
          <p:cNvPr id="21" name="Text 18"/>
          <p:cNvSpPr/>
          <p:nvPr/>
        </p:nvSpPr>
        <p:spPr>
          <a:xfrm>
            <a:off x="4044375" y="4927163"/>
            <a:ext cx="235506" cy="294323"/>
          </a:xfrm>
          <a:prstGeom prst="rect">
            <a:avLst/>
          </a:prstGeom>
          <a:noFill/>
          <a:ln/>
        </p:spPr>
        <p:txBody>
          <a:bodyPr wrap="none" lIns="0" tIns="0" rIns="0" bIns="0" rtlCol="0" anchor="t"/>
          <a:lstStyle/>
          <a:p>
            <a:pPr algn="l" indent="0" marL="0">
              <a:lnSpc>
                <a:spcPts val="2950"/>
              </a:lnSpc>
              <a:buNone/>
            </a:pPr>
            <a:r>
              <a:rPr lang="en-US" sz="1850" b="1" dirty="0">
                <a:solidFill>
                  <a:srgbClr val="000000"/>
                </a:solidFill>
                <a:latin typeface="Bricolage Grotesque Extra Bold" pitchFamily="34" charset="0"/>
                <a:ea typeface="Bricolage Grotesque Extra Bold" pitchFamily="34" charset="-122"/>
                <a:cs typeface="Bricolage Grotesque Extra Bold" pitchFamily="34" charset="-120"/>
              </a:rPr>
              <a:t>3</a:t>
            </a:r>
            <a:endParaRPr lang="en-US" sz="1850" dirty="0"/>
          </a:p>
        </p:txBody>
      </p:sp>
      <p:sp>
        <p:nvSpPr>
          <p:cNvPr id="22" name="Text 19"/>
          <p:cNvSpPr/>
          <p:nvPr/>
        </p:nvSpPr>
        <p:spPr>
          <a:xfrm>
            <a:off x="1326475" y="5564981"/>
            <a:ext cx="3643313" cy="306705"/>
          </a:xfrm>
          <a:prstGeom prst="rect">
            <a:avLst/>
          </a:prstGeom>
          <a:noFill/>
          <a:ln/>
        </p:spPr>
        <p:txBody>
          <a:bodyPr wrap="none" lIns="0" tIns="0" rIns="0" bIns="0" rtlCol="0" anchor="t"/>
          <a:lstStyle/>
          <a:p>
            <a:pPr algn="l" indent="0" marL="0">
              <a:lnSpc>
                <a:spcPts val="2400"/>
              </a:lnSpc>
              <a:buNone/>
            </a:pPr>
            <a:r>
              <a:rPr lang="en-US" sz="1900" b="1" dirty="0">
                <a:solidFill>
                  <a:srgbClr val="E5DCE6"/>
                </a:solidFill>
                <a:latin typeface="Bricolage Grotesque Extra Bold" pitchFamily="34" charset="0"/>
                <a:ea typeface="Bricolage Grotesque Extra Bold" pitchFamily="34" charset="-122"/>
                <a:cs typeface="Bricolage Grotesque Extra Bold" pitchFamily="34" charset="-120"/>
              </a:rPr>
              <a:t>Comptes Utilisateurs (5 Rôles)</a:t>
            </a:r>
            <a:endParaRPr lang="en-US" sz="1900" dirty="0"/>
          </a:p>
        </p:txBody>
      </p:sp>
      <p:sp>
        <p:nvSpPr>
          <p:cNvPr id="23" name="Text 20"/>
          <p:cNvSpPr/>
          <p:nvPr/>
        </p:nvSpPr>
        <p:spPr>
          <a:xfrm>
            <a:off x="1326475" y="5989439"/>
            <a:ext cx="5671423" cy="628174"/>
          </a:xfrm>
          <a:prstGeom prst="rect">
            <a:avLst/>
          </a:prstGeom>
          <a:noFill/>
          <a:ln/>
        </p:spPr>
        <p:txBody>
          <a:bodyPr wrap="square" lIns="0" tIns="0" rIns="0" bIns="0" rtlCol="0" anchor="t"/>
          <a:lstStyle/>
          <a:p>
            <a:pPr algn="l" indent="0" marL="0">
              <a:lnSpc>
                <a:spcPts val="2450"/>
              </a:lnSpc>
              <a:buNone/>
            </a:pPr>
            <a:r>
              <a:rPr lang="en-US" sz="1500" dirty="0">
                <a:solidFill>
                  <a:srgbClr val="E5DCE6"/>
                </a:solidFill>
                <a:latin typeface="Montserrat" pitchFamily="34" charset="0"/>
                <a:ea typeface="Montserrat" pitchFamily="34" charset="-122"/>
                <a:cs typeface="Montserrat" pitchFamily="34" charset="-120"/>
              </a:rPr>
              <a:t>Administrateur, Responsable, Représentant Commercial, Lecteur Seul et Compte de Service API</a:t>
            </a:r>
            <a:endParaRPr lang="en-US" sz="1500" dirty="0"/>
          </a:p>
        </p:txBody>
      </p:sp>
      <p:sp>
        <p:nvSpPr>
          <p:cNvPr id="24" name="Shape 21"/>
          <p:cNvSpPr/>
          <p:nvPr/>
        </p:nvSpPr>
        <p:spPr>
          <a:xfrm>
            <a:off x="7413188" y="5074325"/>
            <a:ext cx="6109692" cy="1762363"/>
          </a:xfrm>
          <a:prstGeom prst="roundRect">
            <a:avLst>
              <a:gd name="adj" fmla="val 6226"/>
            </a:avLst>
          </a:prstGeom>
          <a:solidFill>
            <a:srgbClr val="090E3F"/>
          </a:solidFill>
          <a:ln/>
        </p:spPr>
      </p:sp>
      <p:sp>
        <p:nvSpPr>
          <p:cNvPr id="25" name="Shape 22"/>
          <p:cNvSpPr/>
          <p:nvPr/>
        </p:nvSpPr>
        <p:spPr>
          <a:xfrm>
            <a:off x="7413188" y="5051465"/>
            <a:ext cx="6109692" cy="91440"/>
          </a:xfrm>
          <a:prstGeom prst="roundRect">
            <a:avLst>
              <a:gd name="adj" fmla="val 90161"/>
            </a:avLst>
          </a:prstGeom>
          <a:solidFill>
            <a:srgbClr val="EEAEF6"/>
          </a:solidFill>
          <a:ln/>
        </p:spPr>
      </p:sp>
      <p:sp>
        <p:nvSpPr>
          <p:cNvPr id="26" name="Shape 23"/>
          <p:cNvSpPr/>
          <p:nvPr/>
        </p:nvSpPr>
        <p:spPr>
          <a:xfrm>
            <a:off x="10173593" y="4780002"/>
            <a:ext cx="588764" cy="588764"/>
          </a:xfrm>
          <a:prstGeom prst="roundRect">
            <a:avLst>
              <a:gd name="adj" fmla="val 155308"/>
            </a:avLst>
          </a:prstGeom>
          <a:solidFill>
            <a:srgbClr val="EEAEF6"/>
          </a:solidFill>
          <a:ln/>
        </p:spPr>
      </p:sp>
      <p:sp>
        <p:nvSpPr>
          <p:cNvPr id="27" name="Text 24"/>
          <p:cNvSpPr/>
          <p:nvPr/>
        </p:nvSpPr>
        <p:spPr>
          <a:xfrm>
            <a:off x="10350163" y="4927163"/>
            <a:ext cx="235506" cy="294323"/>
          </a:xfrm>
          <a:prstGeom prst="rect">
            <a:avLst/>
          </a:prstGeom>
          <a:noFill/>
          <a:ln/>
        </p:spPr>
        <p:txBody>
          <a:bodyPr wrap="none" lIns="0" tIns="0" rIns="0" bIns="0" rtlCol="0" anchor="t"/>
          <a:lstStyle/>
          <a:p>
            <a:pPr algn="l" indent="0" marL="0">
              <a:lnSpc>
                <a:spcPts val="2950"/>
              </a:lnSpc>
              <a:buNone/>
            </a:pPr>
            <a:r>
              <a:rPr lang="en-US" sz="1850" b="1" dirty="0">
                <a:solidFill>
                  <a:srgbClr val="000000"/>
                </a:solidFill>
                <a:latin typeface="Bricolage Grotesque Extra Bold" pitchFamily="34" charset="0"/>
                <a:ea typeface="Bricolage Grotesque Extra Bold" pitchFamily="34" charset="-122"/>
                <a:cs typeface="Bricolage Grotesque Extra Bold" pitchFamily="34" charset="-120"/>
              </a:rPr>
              <a:t>4</a:t>
            </a:r>
            <a:endParaRPr lang="en-US" sz="1850" dirty="0"/>
          </a:p>
        </p:txBody>
      </p:sp>
      <p:sp>
        <p:nvSpPr>
          <p:cNvPr id="28" name="Text 25"/>
          <p:cNvSpPr/>
          <p:nvPr/>
        </p:nvSpPr>
        <p:spPr>
          <a:xfrm>
            <a:off x="7632263" y="5564981"/>
            <a:ext cx="4886563" cy="306705"/>
          </a:xfrm>
          <a:prstGeom prst="rect">
            <a:avLst/>
          </a:prstGeom>
          <a:noFill/>
          <a:ln/>
        </p:spPr>
        <p:txBody>
          <a:bodyPr wrap="none" lIns="0" tIns="0" rIns="0" bIns="0" rtlCol="0" anchor="t"/>
          <a:lstStyle/>
          <a:p>
            <a:pPr algn="l" indent="0" marL="0">
              <a:lnSpc>
                <a:spcPts val="2400"/>
              </a:lnSpc>
              <a:buNone/>
            </a:pPr>
            <a:r>
              <a:rPr lang="en-US" sz="1900" b="1" dirty="0">
                <a:solidFill>
                  <a:srgbClr val="E5DCE6"/>
                </a:solidFill>
                <a:latin typeface="Bricolage Grotesque Extra Bold" pitchFamily="34" charset="0"/>
                <a:ea typeface="Bricolage Grotesque Extra Bold" pitchFamily="34" charset="-122"/>
                <a:cs typeface="Bricolage Grotesque Extra Bold" pitchFamily="34" charset="-120"/>
              </a:rPr>
              <a:t>Historique des Transactions (5 Factures)</a:t>
            </a:r>
            <a:endParaRPr lang="en-US" sz="1900" dirty="0"/>
          </a:p>
        </p:txBody>
      </p:sp>
      <p:sp>
        <p:nvSpPr>
          <p:cNvPr id="29" name="Text 26"/>
          <p:cNvSpPr/>
          <p:nvPr/>
        </p:nvSpPr>
        <p:spPr>
          <a:xfrm>
            <a:off x="7632263" y="5989439"/>
            <a:ext cx="5671542" cy="628174"/>
          </a:xfrm>
          <a:prstGeom prst="rect">
            <a:avLst/>
          </a:prstGeom>
          <a:noFill/>
          <a:ln/>
        </p:spPr>
        <p:txBody>
          <a:bodyPr wrap="square" lIns="0" tIns="0" rIns="0" bIns="0" rtlCol="0" anchor="t"/>
          <a:lstStyle/>
          <a:p>
            <a:pPr algn="l" indent="0" marL="0">
              <a:lnSpc>
                <a:spcPts val="2450"/>
              </a:lnSpc>
              <a:buNone/>
            </a:pPr>
            <a:r>
              <a:rPr lang="en-US" sz="1500" dirty="0">
                <a:solidFill>
                  <a:srgbClr val="E5DCE6"/>
                </a:solidFill>
                <a:latin typeface="Montserrat" pitchFamily="34" charset="0"/>
                <a:ea typeface="Montserrat" pitchFamily="34" charset="-122"/>
                <a:cs typeface="Montserrat" pitchFamily="34" charset="-120"/>
              </a:rPr>
              <a:t>Exemples d'enregistrements de ventes démontrant le flux de travail complet de la commande à la facture</a:t>
            </a:r>
            <a:endParaRPr lang="en-US" sz="1500" dirty="0"/>
          </a:p>
        </p:txBody>
      </p:sp>
      <p:sp>
        <p:nvSpPr>
          <p:cNvPr id="30" name="Text 27"/>
          <p:cNvSpPr/>
          <p:nvPr/>
        </p:nvSpPr>
        <p:spPr>
          <a:xfrm>
            <a:off x="1107400" y="7057430"/>
            <a:ext cx="12415480" cy="314087"/>
          </a:xfrm>
          <a:prstGeom prst="rect">
            <a:avLst/>
          </a:prstGeom>
          <a:noFill/>
          <a:ln/>
        </p:spPr>
        <p:txBody>
          <a:bodyPr wrap="none" lIns="0" tIns="0" rIns="0" bIns="0" rtlCol="0" anchor="t"/>
          <a:lstStyle/>
          <a:p>
            <a:pPr algn="r" indent="0" marL="0">
              <a:lnSpc>
                <a:spcPts val="2450"/>
              </a:lnSpc>
              <a:buNone/>
            </a:pPr>
            <a:r>
              <a:rPr lang="en-US" sz="1500" dirty="0">
                <a:solidFill>
                  <a:srgbClr val="E5DCE6"/>
                </a:solidFill>
                <a:latin typeface="Montserrat" pitchFamily="34" charset="0"/>
                <a:ea typeface="Montserrat" pitchFamily="34" charset="-122"/>
                <a:cs typeface="Montserrat" pitchFamily="34" charset="-120"/>
              </a:rPr>
              <a:t>Page 6</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29600"/>
          </a:xfrm>
          <a:prstGeom prst="rect">
            <a:avLst/>
          </a:prstGeom>
        </p:spPr>
      </p:pic>
      <p:sp>
        <p:nvSpPr>
          <p:cNvPr id="3" name="Shape 0"/>
          <p:cNvSpPr/>
          <p:nvPr/>
        </p:nvSpPr>
        <p:spPr>
          <a:xfrm>
            <a:off x="5954673" y="1008698"/>
            <a:ext cx="654606" cy="266700"/>
          </a:xfrm>
          <a:prstGeom prst="roundRect">
            <a:avLst>
              <a:gd name="adj" fmla="val 16856"/>
            </a:avLst>
          </a:prstGeom>
          <a:noFill/>
          <a:ln w="7620">
            <a:solidFill>
              <a:srgbClr val="EEAEF6"/>
            </a:solidFill>
            <a:prstDash val="solid"/>
          </a:ln>
        </p:spPr>
      </p:sp>
      <p:sp>
        <p:nvSpPr>
          <p:cNvPr id="4" name="Text 1"/>
          <p:cNvSpPr/>
          <p:nvPr/>
        </p:nvSpPr>
        <p:spPr>
          <a:xfrm>
            <a:off x="6042541" y="1056442"/>
            <a:ext cx="478869" cy="171212"/>
          </a:xfrm>
          <a:prstGeom prst="rect">
            <a:avLst/>
          </a:prstGeom>
          <a:noFill/>
          <a:ln/>
        </p:spPr>
        <p:txBody>
          <a:bodyPr wrap="none" lIns="0" tIns="0" rIns="0" bIns="0" rtlCol="0" anchor="t"/>
          <a:lstStyle/>
          <a:p>
            <a:pPr algn="l" indent="0" marL="0">
              <a:lnSpc>
                <a:spcPts val="1300"/>
              </a:lnSpc>
              <a:buNone/>
            </a:pPr>
            <a:r>
              <a:rPr lang="en-US" sz="800" dirty="0">
                <a:solidFill>
                  <a:srgbClr val="EEAEF6"/>
                </a:solidFill>
                <a:latin typeface="Montserrat" pitchFamily="34" charset="0"/>
                <a:ea typeface="Montserrat" pitchFamily="34" charset="-122"/>
                <a:cs typeface="Montserrat" pitchFamily="34" charset="-120"/>
              </a:rPr>
              <a:t>PARTIE 2</a:t>
            </a:r>
            <a:endParaRPr lang="en-US" sz="800" dirty="0"/>
          </a:p>
        </p:txBody>
      </p:sp>
      <p:sp>
        <p:nvSpPr>
          <p:cNvPr id="5" name="Text 2"/>
          <p:cNvSpPr/>
          <p:nvPr/>
        </p:nvSpPr>
        <p:spPr>
          <a:xfrm>
            <a:off x="5954673" y="1328857"/>
            <a:ext cx="5642848" cy="418028"/>
          </a:xfrm>
          <a:prstGeom prst="rect">
            <a:avLst/>
          </a:prstGeom>
          <a:noFill/>
          <a:ln/>
        </p:spPr>
        <p:txBody>
          <a:bodyPr wrap="none" lIns="0" tIns="0" rIns="0" bIns="0" rtlCol="0" anchor="t"/>
          <a:lstStyle/>
          <a:p>
            <a:pPr algn="l" indent="0" marL="0">
              <a:lnSpc>
                <a:spcPts val="3250"/>
              </a:lnSpc>
              <a:buNone/>
            </a:pPr>
            <a:r>
              <a:rPr lang="en-US" sz="2600" b="1" dirty="0">
                <a:solidFill>
                  <a:srgbClr val="EEAEF6"/>
                </a:solidFill>
                <a:latin typeface="Bricolage Grotesque Extra Bold" pitchFamily="34" charset="0"/>
                <a:ea typeface="Bricolage Grotesque Extra Bold" pitchFamily="34" charset="-122"/>
                <a:cs typeface="Bricolage Grotesque Extra Bold" pitchFamily="34" charset="-120"/>
              </a:rPr>
              <a:t>Requêtes de Business Intelligence</a:t>
            </a:r>
            <a:endParaRPr lang="en-US" sz="2600" dirty="0"/>
          </a:p>
        </p:txBody>
      </p:sp>
      <p:sp>
        <p:nvSpPr>
          <p:cNvPr id="6" name="Text 3"/>
          <p:cNvSpPr/>
          <p:nvPr/>
        </p:nvSpPr>
        <p:spPr>
          <a:xfrm>
            <a:off x="5954673" y="1947505"/>
            <a:ext cx="133707" cy="167164"/>
          </a:xfrm>
          <a:prstGeom prst="rect">
            <a:avLst/>
          </a:prstGeom>
          <a:noFill/>
          <a:ln/>
        </p:spPr>
        <p:txBody>
          <a:bodyPr wrap="none" lIns="0" tIns="0" rIns="0" bIns="0" rtlCol="0" anchor="t"/>
          <a:lstStyle/>
          <a:p>
            <a:pPr algn="l" indent="0" marL="0">
              <a:lnSpc>
                <a:spcPts val="1650"/>
              </a:lnSpc>
              <a:buNone/>
            </a:pPr>
            <a:r>
              <a:rPr lang="en-US" sz="1050" dirty="0">
                <a:solidFill>
                  <a:srgbClr val="E5DCE6"/>
                </a:solidFill>
                <a:latin typeface="Bricolage Grotesque Light" pitchFamily="34" charset="0"/>
                <a:ea typeface="Bricolage Grotesque Light" pitchFamily="34" charset="-122"/>
                <a:cs typeface="Bricolage Grotesque Light" pitchFamily="34" charset="-120"/>
              </a:rPr>
              <a:t>01</a:t>
            </a:r>
            <a:endParaRPr lang="en-US" sz="1050" dirty="0"/>
          </a:p>
        </p:txBody>
      </p:sp>
      <p:sp>
        <p:nvSpPr>
          <p:cNvPr id="7" name="Shape 4"/>
          <p:cNvSpPr/>
          <p:nvPr/>
        </p:nvSpPr>
        <p:spPr>
          <a:xfrm>
            <a:off x="5954673" y="2159437"/>
            <a:ext cx="8207454" cy="15240"/>
          </a:xfrm>
          <a:prstGeom prst="rect">
            <a:avLst/>
          </a:prstGeom>
          <a:solidFill>
            <a:srgbClr val="EEAEF6"/>
          </a:solidFill>
          <a:ln/>
        </p:spPr>
      </p:sp>
      <p:sp>
        <p:nvSpPr>
          <p:cNvPr id="8" name="Text 5"/>
          <p:cNvSpPr/>
          <p:nvPr/>
        </p:nvSpPr>
        <p:spPr>
          <a:xfrm>
            <a:off x="5954673" y="2256711"/>
            <a:ext cx="2847261" cy="209074"/>
          </a:xfrm>
          <a:prstGeom prst="rect">
            <a:avLst/>
          </a:prstGeom>
          <a:noFill/>
          <a:ln/>
        </p:spPr>
        <p:txBody>
          <a:bodyPr wrap="none" lIns="0" tIns="0" rIns="0" bIns="0" rtlCol="0" anchor="t"/>
          <a:lstStyle/>
          <a:p>
            <a:pPr algn="l" indent="0" marL="0">
              <a:lnSpc>
                <a:spcPts val="1600"/>
              </a:lnSpc>
              <a:buNone/>
            </a:pPr>
            <a:r>
              <a:rPr lang="en-US" sz="1300" b="1" dirty="0">
                <a:solidFill>
                  <a:srgbClr val="E5DCE6"/>
                </a:solidFill>
                <a:latin typeface="Bricolage Grotesque Extra Bold" pitchFamily="34" charset="0"/>
                <a:ea typeface="Bricolage Grotesque Extra Bold" pitchFamily="34" charset="-122"/>
                <a:cs typeface="Bricolage Grotesque Extra Bold" pitchFamily="34" charset="-120"/>
              </a:rPr>
              <a:t>Analyse d'Inventaire par Catégorie</a:t>
            </a:r>
            <a:endParaRPr lang="en-US" sz="1300" dirty="0"/>
          </a:p>
        </p:txBody>
      </p:sp>
      <p:sp>
        <p:nvSpPr>
          <p:cNvPr id="9" name="Text 6"/>
          <p:cNvSpPr/>
          <p:nvPr/>
        </p:nvSpPr>
        <p:spPr>
          <a:xfrm>
            <a:off x="5954673" y="2546033"/>
            <a:ext cx="8207454" cy="428149"/>
          </a:xfrm>
          <a:prstGeom prst="rect">
            <a:avLst/>
          </a:prstGeom>
          <a:noFill/>
          <a:ln/>
        </p:spPr>
        <p:txBody>
          <a:bodyPr wrap="square" lIns="0" tIns="0" rIns="0" bIns="0" rtlCol="0" anchor="t"/>
          <a:lstStyle/>
          <a:p>
            <a:pPr algn="l" indent="0" marL="0">
              <a:lnSpc>
                <a:spcPts val="1650"/>
              </a:lnSpc>
              <a:buNone/>
            </a:pPr>
            <a:r>
              <a:rPr lang="en-US" sz="1050" dirty="0">
                <a:solidFill>
                  <a:srgbClr val="E5DCE6"/>
                </a:solidFill>
                <a:latin typeface="Montserrat" pitchFamily="34" charset="0"/>
                <a:ea typeface="Montserrat" pitchFamily="34" charset="-122"/>
                <a:cs typeface="Montserrat" pitchFamily="34" charset="-120"/>
              </a:rPr>
              <a:t>Requête GROUP BY calculant le nombre total de produits et les niveaux de stock par type, offrant une visibilité instantanée sur la distribution des stocks</a:t>
            </a:r>
            <a:endParaRPr lang="en-US" sz="1050" dirty="0"/>
          </a:p>
        </p:txBody>
      </p:sp>
      <p:sp>
        <p:nvSpPr>
          <p:cNvPr id="10" name="Text 7"/>
          <p:cNvSpPr/>
          <p:nvPr/>
        </p:nvSpPr>
        <p:spPr>
          <a:xfrm>
            <a:off x="5954673" y="3208139"/>
            <a:ext cx="133707" cy="167164"/>
          </a:xfrm>
          <a:prstGeom prst="rect">
            <a:avLst/>
          </a:prstGeom>
          <a:noFill/>
          <a:ln/>
        </p:spPr>
        <p:txBody>
          <a:bodyPr wrap="none" lIns="0" tIns="0" rIns="0" bIns="0" rtlCol="0" anchor="t"/>
          <a:lstStyle/>
          <a:p>
            <a:pPr algn="l" indent="0" marL="0">
              <a:lnSpc>
                <a:spcPts val="1650"/>
              </a:lnSpc>
              <a:buNone/>
            </a:pPr>
            <a:r>
              <a:rPr lang="en-US" sz="1050" dirty="0">
                <a:solidFill>
                  <a:srgbClr val="E5DCE6"/>
                </a:solidFill>
                <a:latin typeface="Bricolage Grotesque Light" pitchFamily="34" charset="0"/>
                <a:ea typeface="Bricolage Grotesque Light" pitchFamily="34" charset="-122"/>
                <a:cs typeface="Bricolage Grotesque Light" pitchFamily="34" charset="-120"/>
              </a:rPr>
              <a:t>02</a:t>
            </a:r>
            <a:endParaRPr lang="en-US" sz="1050" dirty="0"/>
          </a:p>
        </p:txBody>
      </p:sp>
      <p:sp>
        <p:nvSpPr>
          <p:cNvPr id="11" name="Shape 8"/>
          <p:cNvSpPr/>
          <p:nvPr/>
        </p:nvSpPr>
        <p:spPr>
          <a:xfrm>
            <a:off x="5954673" y="3420070"/>
            <a:ext cx="8207454" cy="15240"/>
          </a:xfrm>
          <a:prstGeom prst="rect">
            <a:avLst/>
          </a:prstGeom>
          <a:solidFill>
            <a:srgbClr val="EEAEF6"/>
          </a:solidFill>
          <a:ln/>
        </p:spPr>
      </p:sp>
      <p:sp>
        <p:nvSpPr>
          <p:cNvPr id="12" name="Text 9"/>
          <p:cNvSpPr/>
          <p:nvPr/>
        </p:nvSpPr>
        <p:spPr>
          <a:xfrm>
            <a:off x="5954673" y="3517344"/>
            <a:ext cx="2676525" cy="209074"/>
          </a:xfrm>
          <a:prstGeom prst="rect">
            <a:avLst/>
          </a:prstGeom>
          <a:noFill/>
          <a:ln/>
        </p:spPr>
        <p:txBody>
          <a:bodyPr wrap="none" lIns="0" tIns="0" rIns="0" bIns="0" rtlCol="0" anchor="t"/>
          <a:lstStyle/>
          <a:p>
            <a:pPr algn="l" indent="0" marL="0">
              <a:lnSpc>
                <a:spcPts val="1600"/>
              </a:lnSpc>
              <a:buNone/>
            </a:pPr>
            <a:r>
              <a:rPr lang="en-US" sz="1300" b="1" dirty="0">
                <a:solidFill>
                  <a:srgbClr val="E5DCE6"/>
                </a:solidFill>
                <a:latin typeface="Bricolage Grotesque Extra Bold" pitchFamily="34" charset="0"/>
                <a:ea typeface="Bricolage Grotesque Extra Bold" pitchFamily="34" charset="-122"/>
                <a:cs typeface="Bricolage Grotesque Extra Bold" pitchFamily="34" charset="-120"/>
              </a:rPr>
              <a:t>Rapport d'Évaluation des Stocks</a:t>
            </a:r>
            <a:endParaRPr lang="en-US" sz="1300" dirty="0"/>
          </a:p>
        </p:txBody>
      </p:sp>
      <p:sp>
        <p:nvSpPr>
          <p:cNvPr id="13" name="Text 10"/>
          <p:cNvSpPr/>
          <p:nvPr/>
        </p:nvSpPr>
        <p:spPr>
          <a:xfrm>
            <a:off x="5954673" y="3806666"/>
            <a:ext cx="8207454" cy="428149"/>
          </a:xfrm>
          <a:prstGeom prst="rect">
            <a:avLst/>
          </a:prstGeom>
          <a:noFill/>
          <a:ln/>
        </p:spPr>
        <p:txBody>
          <a:bodyPr wrap="square" lIns="0" tIns="0" rIns="0" bIns="0" rtlCol="0" anchor="t"/>
          <a:lstStyle/>
          <a:p>
            <a:pPr algn="l" indent="0" marL="0">
              <a:lnSpc>
                <a:spcPts val="1650"/>
              </a:lnSpc>
              <a:buNone/>
            </a:pPr>
            <a:r>
              <a:rPr lang="en-US" sz="1050" dirty="0">
                <a:solidFill>
                  <a:srgbClr val="E5DCE6"/>
                </a:solidFill>
                <a:latin typeface="Montserrat" pitchFamily="34" charset="0"/>
                <a:ea typeface="Montserrat" pitchFamily="34" charset="-122"/>
                <a:cs typeface="Montserrat" pitchFamily="34" charset="-120"/>
              </a:rPr>
              <a:t>Agrégation SUM calculant la valeur monétaire totale (stock × prix) par catégorie, révélant que l'Équipement Portable détient la valeur la plus élevée grâce aux ordinateurs portables haut de gamme</a:t>
            </a:r>
            <a:endParaRPr lang="en-US" sz="1050" dirty="0"/>
          </a:p>
        </p:txBody>
      </p:sp>
      <p:sp>
        <p:nvSpPr>
          <p:cNvPr id="14" name="Text 11"/>
          <p:cNvSpPr/>
          <p:nvPr/>
        </p:nvSpPr>
        <p:spPr>
          <a:xfrm>
            <a:off x="5954673" y="4468773"/>
            <a:ext cx="133707" cy="167164"/>
          </a:xfrm>
          <a:prstGeom prst="rect">
            <a:avLst/>
          </a:prstGeom>
          <a:noFill/>
          <a:ln/>
        </p:spPr>
        <p:txBody>
          <a:bodyPr wrap="none" lIns="0" tIns="0" rIns="0" bIns="0" rtlCol="0" anchor="t"/>
          <a:lstStyle/>
          <a:p>
            <a:pPr algn="l" indent="0" marL="0">
              <a:lnSpc>
                <a:spcPts val="1650"/>
              </a:lnSpc>
              <a:buNone/>
            </a:pPr>
            <a:r>
              <a:rPr lang="en-US" sz="1050" dirty="0">
                <a:solidFill>
                  <a:srgbClr val="E5DCE6"/>
                </a:solidFill>
                <a:latin typeface="Bricolage Grotesque Light" pitchFamily="34" charset="0"/>
                <a:ea typeface="Bricolage Grotesque Light" pitchFamily="34" charset="-122"/>
                <a:cs typeface="Bricolage Grotesque Light" pitchFamily="34" charset="-120"/>
              </a:rPr>
              <a:t>03</a:t>
            </a:r>
            <a:endParaRPr lang="en-US" sz="1050" dirty="0"/>
          </a:p>
        </p:txBody>
      </p:sp>
      <p:sp>
        <p:nvSpPr>
          <p:cNvPr id="15" name="Shape 12"/>
          <p:cNvSpPr/>
          <p:nvPr/>
        </p:nvSpPr>
        <p:spPr>
          <a:xfrm>
            <a:off x="5954673" y="4680704"/>
            <a:ext cx="8207454" cy="15240"/>
          </a:xfrm>
          <a:prstGeom prst="rect">
            <a:avLst/>
          </a:prstGeom>
          <a:solidFill>
            <a:srgbClr val="EEAEF6"/>
          </a:solidFill>
          <a:ln/>
        </p:spPr>
      </p:sp>
      <p:sp>
        <p:nvSpPr>
          <p:cNvPr id="16" name="Text 13"/>
          <p:cNvSpPr/>
          <p:nvPr/>
        </p:nvSpPr>
        <p:spPr>
          <a:xfrm>
            <a:off x="5954673" y="4777978"/>
            <a:ext cx="2658308" cy="209074"/>
          </a:xfrm>
          <a:prstGeom prst="rect">
            <a:avLst/>
          </a:prstGeom>
          <a:noFill/>
          <a:ln/>
        </p:spPr>
        <p:txBody>
          <a:bodyPr wrap="none" lIns="0" tIns="0" rIns="0" bIns="0" rtlCol="0" anchor="t"/>
          <a:lstStyle/>
          <a:p>
            <a:pPr algn="l" indent="0" marL="0">
              <a:lnSpc>
                <a:spcPts val="1600"/>
              </a:lnSpc>
              <a:buNone/>
            </a:pPr>
            <a:r>
              <a:rPr lang="en-US" sz="1300" b="1" dirty="0">
                <a:solidFill>
                  <a:srgbClr val="E5DCE6"/>
                </a:solidFill>
                <a:latin typeface="Bricolage Grotesque Extra Bold" pitchFamily="34" charset="0"/>
                <a:ea typeface="Bricolage Grotesque Extra Bold" pitchFamily="34" charset="-122"/>
                <a:cs typeface="Bricolage Grotesque Extra Bold" pitchFamily="34" charset="-120"/>
              </a:rPr>
              <a:t>Analyse de la Fourchette de Prix</a:t>
            </a:r>
            <a:endParaRPr lang="en-US" sz="1300" dirty="0"/>
          </a:p>
        </p:txBody>
      </p:sp>
      <p:sp>
        <p:nvSpPr>
          <p:cNvPr id="17" name="Text 14"/>
          <p:cNvSpPr/>
          <p:nvPr/>
        </p:nvSpPr>
        <p:spPr>
          <a:xfrm>
            <a:off x="5954673" y="5067300"/>
            <a:ext cx="8207454" cy="428149"/>
          </a:xfrm>
          <a:prstGeom prst="rect">
            <a:avLst/>
          </a:prstGeom>
          <a:noFill/>
          <a:ln/>
        </p:spPr>
        <p:txBody>
          <a:bodyPr wrap="square" lIns="0" tIns="0" rIns="0" bIns="0" rtlCol="0" anchor="t"/>
          <a:lstStyle/>
          <a:p>
            <a:pPr algn="l" indent="0" marL="0">
              <a:lnSpc>
                <a:spcPts val="1650"/>
              </a:lnSpc>
              <a:buNone/>
            </a:pPr>
            <a:r>
              <a:rPr lang="en-US" sz="1050" dirty="0">
                <a:solidFill>
                  <a:srgbClr val="E5DCE6"/>
                </a:solidFill>
                <a:latin typeface="Montserrat" pitchFamily="34" charset="0"/>
                <a:ea typeface="Montserrat" pitchFamily="34" charset="-122"/>
                <a:cs typeface="Montserrat" pitchFamily="34" charset="-120"/>
              </a:rPr>
              <a:t>Fonctions MIN et MAX identifiant les limites de prix par catégorie, permettant des informations sur la stratégie de prix et l'analyse des marges</a:t>
            </a:r>
            <a:endParaRPr lang="en-US" sz="1050" dirty="0"/>
          </a:p>
        </p:txBody>
      </p:sp>
      <p:sp>
        <p:nvSpPr>
          <p:cNvPr id="18" name="Text 15"/>
          <p:cNvSpPr/>
          <p:nvPr/>
        </p:nvSpPr>
        <p:spPr>
          <a:xfrm>
            <a:off x="5954673" y="5729407"/>
            <a:ext cx="133707" cy="167164"/>
          </a:xfrm>
          <a:prstGeom prst="rect">
            <a:avLst/>
          </a:prstGeom>
          <a:noFill/>
          <a:ln/>
        </p:spPr>
        <p:txBody>
          <a:bodyPr wrap="none" lIns="0" tIns="0" rIns="0" bIns="0" rtlCol="0" anchor="t"/>
          <a:lstStyle/>
          <a:p>
            <a:pPr algn="l" indent="0" marL="0">
              <a:lnSpc>
                <a:spcPts val="1650"/>
              </a:lnSpc>
              <a:buNone/>
            </a:pPr>
            <a:r>
              <a:rPr lang="en-US" sz="1050" dirty="0">
                <a:solidFill>
                  <a:srgbClr val="E5DCE6"/>
                </a:solidFill>
                <a:latin typeface="Bricolage Grotesque Light" pitchFamily="34" charset="0"/>
                <a:ea typeface="Bricolage Grotesque Light" pitchFamily="34" charset="-122"/>
                <a:cs typeface="Bricolage Grotesque Light" pitchFamily="34" charset="-120"/>
              </a:rPr>
              <a:t>04</a:t>
            </a:r>
            <a:endParaRPr lang="en-US" sz="1050" dirty="0"/>
          </a:p>
        </p:txBody>
      </p:sp>
      <p:sp>
        <p:nvSpPr>
          <p:cNvPr id="19" name="Shape 16"/>
          <p:cNvSpPr/>
          <p:nvPr/>
        </p:nvSpPr>
        <p:spPr>
          <a:xfrm>
            <a:off x="5954673" y="5941338"/>
            <a:ext cx="8207454" cy="15240"/>
          </a:xfrm>
          <a:prstGeom prst="rect">
            <a:avLst/>
          </a:prstGeom>
          <a:solidFill>
            <a:srgbClr val="EEAEF6"/>
          </a:solidFill>
          <a:ln/>
        </p:spPr>
      </p:sp>
      <p:sp>
        <p:nvSpPr>
          <p:cNvPr id="20" name="Text 17"/>
          <p:cNvSpPr/>
          <p:nvPr/>
        </p:nvSpPr>
        <p:spPr>
          <a:xfrm>
            <a:off x="5954673" y="6038612"/>
            <a:ext cx="2991803" cy="209074"/>
          </a:xfrm>
          <a:prstGeom prst="rect">
            <a:avLst/>
          </a:prstGeom>
          <a:noFill/>
          <a:ln/>
        </p:spPr>
        <p:txBody>
          <a:bodyPr wrap="none" lIns="0" tIns="0" rIns="0" bIns="0" rtlCol="0" anchor="t"/>
          <a:lstStyle/>
          <a:p>
            <a:pPr algn="l" indent="0" marL="0">
              <a:lnSpc>
                <a:spcPts val="1600"/>
              </a:lnSpc>
              <a:buNone/>
            </a:pPr>
            <a:r>
              <a:rPr lang="en-US" sz="1300" b="1" dirty="0">
                <a:solidFill>
                  <a:srgbClr val="E5DCE6"/>
                </a:solidFill>
                <a:latin typeface="Bricolage Grotesque Extra Bold" pitchFamily="34" charset="0"/>
                <a:ea typeface="Bricolage Grotesque Extra Bold" pitchFamily="34" charset="-122"/>
                <a:cs typeface="Bricolage Grotesque Extra Bold" pitchFamily="34" charset="-120"/>
              </a:rPr>
              <a:t>Identification des Produits Premium</a:t>
            </a:r>
            <a:endParaRPr lang="en-US" sz="1300" dirty="0"/>
          </a:p>
        </p:txBody>
      </p:sp>
      <p:sp>
        <p:nvSpPr>
          <p:cNvPr id="21" name="Text 18"/>
          <p:cNvSpPr/>
          <p:nvPr/>
        </p:nvSpPr>
        <p:spPr>
          <a:xfrm>
            <a:off x="5954673" y="6327934"/>
            <a:ext cx="8207454" cy="428149"/>
          </a:xfrm>
          <a:prstGeom prst="rect">
            <a:avLst/>
          </a:prstGeom>
          <a:noFill/>
          <a:ln/>
        </p:spPr>
        <p:txBody>
          <a:bodyPr wrap="square" lIns="0" tIns="0" rIns="0" bIns="0" rtlCol="0" anchor="t"/>
          <a:lstStyle/>
          <a:p>
            <a:pPr algn="l" indent="0" marL="0">
              <a:lnSpc>
                <a:spcPts val="1650"/>
              </a:lnSpc>
              <a:buNone/>
            </a:pPr>
            <a:r>
              <a:rPr lang="en-US" sz="1050" dirty="0">
                <a:solidFill>
                  <a:srgbClr val="E5DCE6"/>
                </a:solidFill>
                <a:latin typeface="Montserrat" pitchFamily="34" charset="0"/>
                <a:ea typeface="Montserrat" pitchFamily="34" charset="-122"/>
                <a:cs typeface="Montserrat" pitchFamily="34" charset="-120"/>
              </a:rPr>
              <a:t>Rapport basé sur des sous-requêtes trouvant l'article le plus cher par type (MacBook Air à 1 499 €, Netgear Switch à 899 €), mettant en évidence les produits phares</a:t>
            </a:r>
            <a:endParaRPr lang="en-US" sz="1050" dirty="0"/>
          </a:p>
        </p:txBody>
      </p:sp>
      <p:sp>
        <p:nvSpPr>
          <p:cNvPr id="22" name="Text 19"/>
          <p:cNvSpPr/>
          <p:nvPr/>
        </p:nvSpPr>
        <p:spPr>
          <a:xfrm>
            <a:off x="5954673" y="7006828"/>
            <a:ext cx="8207454" cy="214074"/>
          </a:xfrm>
          <a:prstGeom prst="rect">
            <a:avLst/>
          </a:prstGeom>
          <a:noFill/>
          <a:ln/>
        </p:spPr>
        <p:txBody>
          <a:bodyPr wrap="none" lIns="0" tIns="0" rIns="0" bIns="0" rtlCol="0" anchor="t"/>
          <a:lstStyle/>
          <a:p>
            <a:pPr algn="r" indent="0" marL="0">
              <a:lnSpc>
                <a:spcPts val="1650"/>
              </a:lnSpc>
              <a:buNone/>
            </a:pPr>
            <a:r>
              <a:rPr lang="en-US" sz="1050" dirty="0">
                <a:solidFill>
                  <a:srgbClr val="E5DCE6"/>
                </a:solidFill>
                <a:latin typeface="Montserrat" pitchFamily="34" charset="0"/>
                <a:ea typeface="Montserrat" pitchFamily="34" charset="-122"/>
                <a:cs typeface="Montserrat" pitchFamily="34" charset="-120"/>
              </a:rPr>
              <a:t>Page 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93790" y="963097"/>
            <a:ext cx="3414713" cy="426244"/>
          </a:xfrm>
          <a:prstGeom prst="roundRect">
            <a:avLst>
              <a:gd name="adj" fmla="val 17880"/>
            </a:avLst>
          </a:prstGeom>
          <a:solidFill>
            <a:srgbClr val="3E0845"/>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29878" y="1085493"/>
            <a:ext cx="181451" cy="181451"/>
          </a:xfrm>
          <a:prstGeom prst="rect">
            <a:avLst/>
          </a:prstGeom>
        </p:spPr>
      </p:pic>
      <p:sp>
        <p:nvSpPr>
          <p:cNvPr id="4" name="Text 1"/>
          <p:cNvSpPr/>
          <p:nvPr/>
        </p:nvSpPr>
        <p:spPr>
          <a:xfrm>
            <a:off x="1202055" y="1031081"/>
            <a:ext cx="2870359" cy="290274"/>
          </a:xfrm>
          <a:prstGeom prst="rect">
            <a:avLst/>
          </a:prstGeom>
          <a:noFill/>
          <a:ln/>
        </p:spPr>
        <p:txBody>
          <a:bodyPr wrap="none" lIns="0" tIns="0" rIns="0" bIns="0" rtlCol="0" anchor="t"/>
          <a:lstStyle/>
          <a:p>
            <a:pPr algn="l" indent="0" marL="0">
              <a:lnSpc>
                <a:spcPts val="2250"/>
              </a:lnSpc>
              <a:buNone/>
            </a:pPr>
            <a:r>
              <a:rPr lang="en-US" sz="1400" dirty="0">
                <a:solidFill>
                  <a:srgbClr val="E5DCE6"/>
                </a:solidFill>
                <a:latin typeface="Montserrat" pitchFamily="34" charset="0"/>
                <a:ea typeface="Montserrat" pitchFamily="34" charset="-122"/>
                <a:cs typeface="Montserrat" pitchFamily="34" charset="-120"/>
              </a:rPr>
              <a:t>CONFIGURATION DE SÉCURITÉ</a:t>
            </a:r>
            <a:endParaRPr lang="en-US" sz="1400" dirty="0"/>
          </a:p>
        </p:txBody>
      </p:sp>
      <p:sp>
        <p:nvSpPr>
          <p:cNvPr id="5" name="Text 2"/>
          <p:cNvSpPr/>
          <p:nvPr/>
        </p:nvSpPr>
        <p:spPr>
          <a:xfrm>
            <a:off x="793790" y="1480066"/>
            <a:ext cx="12059007" cy="708779"/>
          </a:xfrm>
          <a:prstGeom prst="rect">
            <a:avLst/>
          </a:prstGeom>
          <a:noFill/>
          <a:ln/>
        </p:spPr>
        <p:txBody>
          <a:bodyPr wrap="none" lIns="0" tIns="0" rIns="0" bIns="0" rtlCol="0" anchor="t"/>
          <a:lstStyle/>
          <a:p>
            <a:pPr algn="l" indent="0" marL="0">
              <a:lnSpc>
                <a:spcPts val="5550"/>
              </a:lnSpc>
              <a:buNone/>
            </a:pPr>
            <a:r>
              <a:rPr lang="en-US" sz="4450" b="1" dirty="0">
                <a:solidFill>
                  <a:srgbClr val="EEAEF6"/>
                </a:solidFill>
                <a:latin typeface="Bricolage Grotesque Extra Bold" pitchFamily="34" charset="0"/>
                <a:ea typeface="Bricolage Grotesque Extra Bold" pitchFamily="34" charset="-122"/>
                <a:cs typeface="Bricolage Grotesque Extra Bold" pitchFamily="34" charset="-120"/>
              </a:rPr>
              <a:t>Gestion des Utilisateurs &amp; Contrôle d'Accès</a:t>
            </a:r>
            <a:endParaRPr lang="en-US" sz="4450" dirty="0"/>
          </a:p>
        </p:txBody>
      </p:sp>
      <p:sp>
        <p:nvSpPr>
          <p:cNvPr id="6" name="Shape 3"/>
          <p:cNvSpPr/>
          <p:nvPr/>
        </p:nvSpPr>
        <p:spPr>
          <a:xfrm>
            <a:off x="793790" y="2529007"/>
            <a:ext cx="4196358" cy="4119443"/>
          </a:xfrm>
          <a:prstGeom prst="roundRect">
            <a:avLst>
              <a:gd name="adj" fmla="val 2313"/>
            </a:avLst>
          </a:prstGeom>
          <a:solidFill>
            <a:srgbClr val="EEAEF6"/>
          </a:solidFill>
          <a:ln/>
        </p:spPr>
      </p:sp>
      <p:sp>
        <p:nvSpPr>
          <p:cNvPr id="7" name="Text 4"/>
          <p:cNvSpPr/>
          <p:nvPr/>
        </p:nvSpPr>
        <p:spPr>
          <a:xfrm>
            <a:off x="1020604" y="2755821"/>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Bricolage Grotesque Extra Bold" pitchFamily="34" charset="0"/>
                <a:ea typeface="Bricolage Grotesque Extra Bold" pitchFamily="34" charset="-122"/>
                <a:cs typeface="Bricolage Grotesque Extra Bold" pitchFamily="34" charset="-120"/>
              </a:rPr>
              <a:t>admin_app</a:t>
            </a:r>
            <a:endParaRPr lang="en-US" sz="2200" dirty="0"/>
          </a:p>
        </p:txBody>
      </p:sp>
      <p:sp>
        <p:nvSpPr>
          <p:cNvPr id="8" name="Text 5"/>
          <p:cNvSpPr/>
          <p:nvPr/>
        </p:nvSpPr>
        <p:spPr>
          <a:xfrm>
            <a:off x="1020604" y="3246239"/>
            <a:ext cx="3742730" cy="362903"/>
          </a:xfrm>
          <a:prstGeom prst="rect">
            <a:avLst/>
          </a:prstGeom>
          <a:noFill/>
          <a:ln/>
        </p:spPr>
        <p:txBody>
          <a:bodyPr wrap="none" lIns="0" tIns="0" rIns="0" bIns="0" rtlCol="0" anchor="t"/>
          <a:lstStyle/>
          <a:p>
            <a:pPr algn="l" indent="0" marL="0">
              <a:lnSpc>
                <a:spcPts val="2850"/>
              </a:lnSpc>
              <a:buNone/>
            </a:pPr>
            <a:r>
              <a:rPr lang="en-US" sz="1750" b="1" dirty="0">
                <a:solidFill>
                  <a:srgbClr val="000000"/>
                </a:solidFill>
                <a:latin typeface="Montserrat" pitchFamily="34" charset="0"/>
                <a:ea typeface="Montserrat" pitchFamily="34" charset="-122"/>
                <a:cs typeface="Montserrat" pitchFamily="34" charset="-120"/>
              </a:rPr>
              <a:t>Host:</a:t>
            </a:r>
            <a:pPr algn="l" indent="0" marL="0">
              <a:lnSpc>
                <a:spcPts val="2850"/>
              </a:lnSpc>
              <a:buNone/>
            </a:pPr>
            <a:r>
              <a:rPr lang="en-US" sz="1750" dirty="0">
                <a:solidFill>
                  <a:srgbClr val="000000"/>
                </a:solidFill>
                <a:latin typeface="Montserrat" pitchFamily="34" charset="0"/>
                <a:ea typeface="Montserrat" pitchFamily="34" charset="-122"/>
                <a:cs typeface="Montserrat" pitchFamily="34" charset="-120"/>
              </a:rPr>
              <a:t> localhost</a:t>
            </a:r>
            <a:endParaRPr lang="en-US" sz="1750" dirty="0"/>
          </a:p>
        </p:txBody>
      </p:sp>
      <p:sp>
        <p:nvSpPr>
          <p:cNvPr id="9" name="Text 6"/>
          <p:cNvSpPr/>
          <p:nvPr/>
        </p:nvSpPr>
        <p:spPr>
          <a:xfrm>
            <a:off x="1020604" y="3745230"/>
            <a:ext cx="3742730" cy="362903"/>
          </a:xfrm>
          <a:prstGeom prst="rect">
            <a:avLst/>
          </a:prstGeom>
          <a:noFill/>
          <a:ln/>
        </p:spPr>
        <p:txBody>
          <a:bodyPr wrap="none" lIns="0" tIns="0" rIns="0" bIns="0" rtlCol="0" anchor="t"/>
          <a:lstStyle/>
          <a:p>
            <a:pPr algn="l" indent="0" marL="0">
              <a:lnSpc>
                <a:spcPts val="2850"/>
              </a:lnSpc>
              <a:buNone/>
            </a:pPr>
            <a:r>
              <a:rPr lang="en-US" sz="1750" b="1" dirty="0">
                <a:solidFill>
                  <a:srgbClr val="000000"/>
                </a:solidFill>
                <a:latin typeface="Montserrat" pitchFamily="34" charset="0"/>
                <a:ea typeface="Montserrat" pitchFamily="34" charset="-122"/>
                <a:cs typeface="Montserrat" pitchFamily="34" charset="-120"/>
              </a:rPr>
              <a:t>Privileges:</a:t>
            </a:r>
            <a:pPr algn="l" indent="0" marL="0">
              <a:lnSpc>
                <a:spcPts val="2850"/>
              </a:lnSpc>
              <a:buNone/>
            </a:pPr>
            <a:r>
              <a:rPr lang="en-US" sz="1750" dirty="0">
                <a:solidFill>
                  <a:srgbClr val="000000"/>
                </a:solidFill>
                <a:latin typeface="Montserrat" pitchFamily="34" charset="0"/>
                <a:ea typeface="Montserrat" pitchFamily="34" charset="-122"/>
                <a:cs typeface="Montserrat" pitchFamily="34" charset="-120"/>
              </a:rPr>
              <a:t> ALL on gestionstock</a:t>
            </a:r>
            <a:endParaRPr lang="en-US" sz="1750" dirty="0"/>
          </a:p>
        </p:txBody>
      </p:sp>
      <p:sp>
        <p:nvSpPr>
          <p:cNvPr id="10" name="Text 7"/>
          <p:cNvSpPr/>
          <p:nvPr/>
        </p:nvSpPr>
        <p:spPr>
          <a:xfrm>
            <a:off x="1020604" y="4244221"/>
            <a:ext cx="3742730" cy="1814513"/>
          </a:xfrm>
          <a:prstGeom prst="rect">
            <a:avLst/>
          </a:prstGeom>
          <a:noFill/>
          <a:ln/>
        </p:spPr>
        <p:txBody>
          <a:bodyPr wrap="square" lIns="0" tIns="0" rIns="0" bIns="0" rtlCol="0" anchor="t"/>
          <a:lstStyle/>
          <a:p>
            <a:pPr algn="l" indent="0" marL="0">
              <a:lnSpc>
                <a:spcPts val="2850"/>
              </a:lnSpc>
              <a:buNone/>
            </a:pPr>
            <a:r>
              <a:rPr lang="en-US" sz="1750" b="1" dirty="0">
                <a:solidFill>
                  <a:srgbClr val="000000"/>
                </a:solidFill>
                <a:latin typeface="Montserrat" pitchFamily="34" charset="0"/>
                <a:ea typeface="Montserrat" pitchFamily="34" charset="-122"/>
                <a:cs typeface="Montserrat" pitchFamily="34" charset="-120"/>
              </a:rPr>
              <a:t>Objectif:</a:t>
            </a:r>
            <a:pPr algn="l" indent="0" marL="0">
              <a:lnSpc>
                <a:spcPts val="2850"/>
              </a:lnSpc>
              <a:buNone/>
            </a:pPr>
            <a:r>
              <a:rPr lang="en-US" sz="1750" dirty="0">
                <a:solidFill>
                  <a:srgbClr val="000000"/>
                </a:solidFill>
                <a:latin typeface="Montserrat" pitchFamily="34" charset="0"/>
                <a:ea typeface="Montserrat" pitchFamily="34" charset="-122"/>
                <a:cs typeface="Montserrat" pitchFamily="34" charset="-120"/>
              </a:rPr>
              <a:t> Contrôle administratif complet pour la gestion des applications, la maintenance de la base de données et les modifications de schéma</a:t>
            </a:r>
            <a:endParaRPr lang="en-US" sz="1750" dirty="0"/>
          </a:p>
        </p:txBody>
      </p:sp>
      <p:sp>
        <p:nvSpPr>
          <p:cNvPr id="11" name="Shape 8"/>
          <p:cNvSpPr/>
          <p:nvPr/>
        </p:nvSpPr>
        <p:spPr>
          <a:xfrm>
            <a:off x="5216962" y="2529007"/>
            <a:ext cx="4196358" cy="4119443"/>
          </a:xfrm>
          <a:prstGeom prst="roundRect">
            <a:avLst>
              <a:gd name="adj" fmla="val 2313"/>
            </a:avLst>
          </a:prstGeom>
          <a:solidFill>
            <a:srgbClr val="243799"/>
          </a:solidFill>
          <a:ln/>
        </p:spPr>
      </p:sp>
      <p:sp>
        <p:nvSpPr>
          <p:cNvPr id="12" name="Text 9"/>
          <p:cNvSpPr/>
          <p:nvPr/>
        </p:nvSpPr>
        <p:spPr>
          <a:xfrm>
            <a:off x="5443776" y="2755821"/>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FFFFFF"/>
                </a:solidFill>
                <a:latin typeface="Bricolage Grotesque Extra Bold" pitchFamily="34" charset="0"/>
                <a:ea typeface="Bricolage Grotesque Extra Bold" pitchFamily="34" charset="-122"/>
                <a:cs typeface="Bricolage Grotesque Extra Bold" pitchFamily="34" charset="-120"/>
              </a:rPr>
              <a:t>lecteur</a:t>
            </a:r>
            <a:endParaRPr lang="en-US" sz="2200" dirty="0"/>
          </a:p>
        </p:txBody>
      </p:sp>
      <p:sp>
        <p:nvSpPr>
          <p:cNvPr id="13" name="Text 10"/>
          <p:cNvSpPr/>
          <p:nvPr/>
        </p:nvSpPr>
        <p:spPr>
          <a:xfrm>
            <a:off x="5443776" y="3246239"/>
            <a:ext cx="3742730" cy="362903"/>
          </a:xfrm>
          <a:prstGeom prst="rect">
            <a:avLst/>
          </a:prstGeom>
          <a:noFill/>
          <a:ln/>
        </p:spPr>
        <p:txBody>
          <a:bodyPr wrap="none" lIns="0" tIns="0" rIns="0" bIns="0" rtlCol="0" anchor="t"/>
          <a:lstStyle/>
          <a:p>
            <a:pPr algn="l" indent="0" marL="0">
              <a:lnSpc>
                <a:spcPts val="2850"/>
              </a:lnSpc>
              <a:buNone/>
            </a:pPr>
            <a:r>
              <a:rPr lang="en-US" sz="1750" b="1" dirty="0">
                <a:solidFill>
                  <a:srgbClr val="FFFFFF"/>
                </a:solidFill>
                <a:latin typeface="Montserrat" pitchFamily="34" charset="0"/>
                <a:ea typeface="Montserrat" pitchFamily="34" charset="-122"/>
                <a:cs typeface="Montserrat" pitchFamily="34" charset="-120"/>
              </a:rPr>
              <a:t>Host:</a:t>
            </a:r>
            <a:pPr algn="l" indent="0" marL="0">
              <a:lnSpc>
                <a:spcPts val="2850"/>
              </a:lnSpc>
              <a:buNone/>
            </a:pPr>
            <a:r>
              <a:rPr lang="en-US" sz="1750" dirty="0">
                <a:solidFill>
                  <a:srgbClr val="FFFFFF"/>
                </a:solidFill>
                <a:latin typeface="Montserrat" pitchFamily="34" charset="0"/>
                <a:ea typeface="Montserrat" pitchFamily="34" charset="-122"/>
                <a:cs typeface="Montserrat" pitchFamily="34" charset="-120"/>
              </a:rPr>
              <a:t> localhost</a:t>
            </a:r>
            <a:endParaRPr lang="en-US" sz="1750" dirty="0"/>
          </a:p>
        </p:txBody>
      </p:sp>
      <p:sp>
        <p:nvSpPr>
          <p:cNvPr id="14" name="Text 11"/>
          <p:cNvSpPr/>
          <p:nvPr/>
        </p:nvSpPr>
        <p:spPr>
          <a:xfrm>
            <a:off x="5443776" y="3745230"/>
            <a:ext cx="3742730" cy="725805"/>
          </a:xfrm>
          <a:prstGeom prst="rect">
            <a:avLst/>
          </a:prstGeom>
          <a:noFill/>
          <a:ln/>
        </p:spPr>
        <p:txBody>
          <a:bodyPr wrap="square" lIns="0" tIns="0" rIns="0" bIns="0" rtlCol="0" anchor="t"/>
          <a:lstStyle/>
          <a:p>
            <a:pPr algn="l" indent="0" marL="0">
              <a:lnSpc>
                <a:spcPts val="2850"/>
              </a:lnSpc>
              <a:buNone/>
            </a:pPr>
            <a:r>
              <a:rPr lang="en-US" sz="1750" b="1" dirty="0">
                <a:solidFill>
                  <a:srgbClr val="FFFFFF"/>
                </a:solidFill>
                <a:latin typeface="Montserrat" pitchFamily="34" charset="0"/>
                <a:ea typeface="Montserrat" pitchFamily="34" charset="-122"/>
                <a:cs typeface="Montserrat" pitchFamily="34" charset="-120"/>
              </a:rPr>
              <a:t>Privileges:</a:t>
            </a:r>
            <a:pPr algn="l" indent="0" marL="0">
              <a:lnSpc>
                <a:spcPts val="2850"/>
              </a:lnSpc>
              <a:buNone/>
            </a:pPr>
            <a:r>
              <a:rPr lang="en-US" sz="1750" dirty="0">
                <a:solidFill>
                  <a:srgbClr val="FFFFFF"/>
                </a:solidFill>
                <a:latin typeface="Montserrat" pitchFamily="34" charset="0"/>
                <a:ea typeface="Montserrat" pitchFamily="34" charset="-122"/>
                <a:cs typeface="Montserrat" pitchFamily="34" charset="-120"/>
              </a:rPr>
              <a:t> SELECT only (lecture seule)</a:t>
            </a:r>
            <a:endParaRPr lang="en-US" sz="1750" dirty="0"/>
          </a:p>
        </p:txBody>
      </p:sp>
      <p:sp>
        <p:nvSpPr>
          <p:cNvPr id="15" name="Text 12"/>
          <p:cNvSpPr/>
          <p:nvPr/>
        </p:nvSpPr>
        <p:spPr>
          <a:xfrm>
            <a:off x="5443776" y="4607123"/>
            <a:ext cx="3742730" cy="1088708"/>
          </a:xfrm>
          <a:prstGeom prst="rect">
            <a:avLst/>
          </a:prstGeom>
          <a:noFill/>
          <a:ln/>
        </p:spPr>
        <p:txBody>
          <a:bodyPr wrap="square" lIns="0" tIns="0" rIns="0" bIns="0" rtlCol="0" anchor="t"/>
          <a:lstStyle/>
          <a:p>
            <a:pPr algn="l" indent="0" marL="0">
              <a:lnSpc>
                <a:spcPts val="2850"/>
              </a:lnSpc>
              <a:buNone/>
            </a:pPr>
            <a:r>
              <a:rPr lang="en-US" sz="1750" b="1" dirty="0">
                <a:solidFill>
                  <a:srgbClr val="FFFFFF"/>
                </a:solidFill>
                <a:latin typeface="Montserrat" pitchFamily="34" charset="0"/>
                <a:ea typeface="Montserrat" pitchFamily="34" charset="-122"/>
                <a:cs typeface="Montserrat" pitchFamily="34" charset="-120"/>
              </a:rPr>
              <a:t>Objectif:</a:t>
            </a:r>
            <a:pPr algn="l" indent="0" marL="0">
              <a:lnSpc>
                <a:spcPts val="2850"/>
              </a:lnSpc>
              <a:buNone/>
            </a:pPr>
            <a:r>
              <a:rPr lang="en-US" sz="1750" dirty="0">
                <a:solidFill>
                  <a:srgbClr val="FFFFFF"/>
                </a:solidFill>
                <a:latin typeface="Montserrat" pitchFamily="34" charset="0"/>
                <a:ea typeface="Montserrat" pitchFamily="34" charset="-122"/>
                <a:cs typeface="Montserrat" pitchFamily="34" charset="-120"/>
              </a:rPr>
              <a:t> Rapports, tableaux de bord et analyses commerciales sans capacités de modification</a:t>
            </a:r>
            <a:endParaRPr lang="en-US" sz="1750" dirty="0"/>
          </a:p>
        </p:txBody>
      </p:sp>
      <p:sp>
        <p:nvSpPr>
          <p:cNvPr id="16" name="Shape 13"/>
          <p:cNvSpPr/>
          <p:nvPr/>
        </p:nvSpPr>
        <p:spPr>
          <a:xfrm>
            <a:off x="9640133" y="2529007"/>
            <a:ext cx="4196358" cy="4119443"/>
          </a:xfrm>
          <a:prstGeom prst="roundRect">
            <a:avLst>
              <a:gd name="adj" fmla="val 2313"/>
            </a:avLst>
          </a:prstGeom>
          <a:solidFill>
            <a:srgbClr val="091158"/>
          </a:solidFill>
          <a:ln/>
        </p:spPr>
      </p:sp>
      <p:sp>
        <p:nvSpPr>
          <p:cNvPr id="17" name="Text 14"/>
          <p:cNvSpPr/>
          <p:nvPr/>
        </p:nvSpPr>
        <p:spPr>
          <a:xfrm>
            <a:off x="9866948" y="2755821"/>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FFFFFF"/>
                </a:solidFill>
                <a:latin typeface="Bricolage Grotesque Extra Bold" pitchFamily="34" charset="0"/>
                <a:ea typeface="Bricolage Grotesque Extra Bold" pitchFamily="34" charset="-122"/>
                <a:cs typeface="Bricolage Grotesque Extra Bold" pitchFamily="34" charset="-120"/>
              </a:rPr>
              <a:t>api_user</a:t>
            </a:r>
            <a:endParaRPr lang="en-US" sz="2200" dirty="0"/>
          </a:p>
        </p:txBody>
      </p:sp>
      <p:sp>
        <p:nvSpPr>
          <p:cNvPr id="18" name="Text 15"/>
          <p:cNvSpPr/>
          <p:nvPr/>
        </p:nvSpPr>
        <p:spPr>
          <a:xfrm>
            <a:off x="9866948" y="3246239"/>
            <a:ext cx="3742730" cy="362903"/>
          </a:xfrm>
          <a:prstGeom prst="rect">
            <a:avLst/>
          </a:prstGeom>
          <a:noFill/>
          <a:ln/>
        </p:spPr>
        <p:txBody>
          <a:bodyPr wrap="none" lIns="0" tIns="0" rIns="0" bIns="0" rtlCol="0" anchor="t"/>
          <a:lstStyle/>
          <a:p>
            <a:pPr algn="l" indent="0" marL="0">
              <a:lnSpc>
                <a:spcPts val="2850"/>
              </a:lnSpc>
              <a:buNone/>
            </a:pPr>
            <a:r>
              <a:rPr lang="en-US" sz="1750" b="1" dirty="0">
                <a:solidFill>
                  <a:srgbClr val="FFFFFF"/>
                </a:solidFill>
                <a:latin typeface="Montserrat" pitchFamily="34" charset="0"/>
                <a:ea typeface="Montserrat" pitchFamily="34" charset="-122"/>
                <a:cs typeface="Montserrat" pitchFamily="34" charset="-120"/>
              </a:rPr>
              <a:t>Host:</a:t>
            </a:r>
            <a:pPr algn="l" indent="0" marL="0">
              <a:lnSpc>
                <a:spcPts val="2850"/>
              </a:lnSpc>
              <a:buNone/>
            </a:pPr>
            <a:r>
              <a:rPr lang="en-US" sz="1750" dirty="0">
                <a:solidFill>
                  <a:srgbClr val="FFFFFF"/>
                </a:solidFill>
                <a:latin typeface="Montserrat" pitchFamily="34" charset="0"/>
                <a:ea typeface="Montserrat" pitchFamily="34" charset="-122"/>
                <a:cs typeface="Montserrat" pitchFamily="34" charset="-120"/>
              </a:rPr>
              <a:t> 127.0.0.1 (IP restreinte)</a:t>
            </a:r>
            <a:endParaRPr lang="en-US" sz="1750" dirty="0"/>
          </a:p>
        </p:txBody>
      </p:sp>
      <p:sp>
        <p:nvSpPr>
          <p:cNvPr id="19" name="Text 16"/>
          <p:cNvSpPr/>
          <p:nvPr/>
        </p:nvSpPr>
        <p:spPr>
          <a:xfrm>
            <a:off x="9866948" y="3745230"/>
            <a:ext cx="3742730" cy="1088708"/>
          </a:xfrm>
          <a:prstGeom prst="rect">
            <a:avLst/>
          </a:prstGeom>
          <a:noFill/>
          <a:ln/>
        </p:spPr>
        <p:txBody>
          <a:bodyPr wrap="square" lIns="0" tIns="0" rIns="0" bIns="0" rtlCol="0" anchor="t"/>
          <a:lstStyle/>
          <a:p>
            <a:pPr algn="l" indent="0" marL="0">
              <a:lnSpc>
                <a:spcPts val="2850"/>
              </a:lnSpc>
              <a:buNone/>
            </a:pPr>
            <a:r>
              <a:rPr lang="en-US" sz="1750" b="1" dirty="0">
                <a:solidFill>
                  <a:srgbClr val="FFFFFF"/>
                </a:solidFill>
                <a:latin typeface="Montserrat" pitchFamily="34" charset="0"/>
                <a:ea typeface="Montserrat" pitchFamily="34" charset="-122"/>
                <a:cs typeface="Montserrat" pitchFamily="34" charset="-120"/>
              </a:rPr>
              <a:t>Privileges:</a:t>
            </a:r>
            <a:pPr algn="l" indent="0" marL="0">
              <a:lnSpc>
                <a:spcPts val="2850"/>
              </a:lnSpc>
              <a:buNone/>
            </a:pPr>
            <a:r>
              <a:rPr lang="en-US" sz="1750" dirty="0">
                <a:solidFill>
                  <a:srgbClr val="FFFFFF"/>
                </a:solidFill>
                <a:latin typeface="Montserrat" pitchFamily="34" charset="0"/>
                <a:ea typeface="Montserrat" pitchFamily="34" charset="-122"/>
                <a:cs typeface="Montserrat" pitchFamily="34" charset="-120"/>
              </a:rPr>
              <a:t> SELECT, INSERT, UPDATE (pas de DELETE ou ALTER)</a:t>
            </a:r>
            <a:endParaRPr lang="en-US" sz="1750" dirty="0"/>
          </a:p>
        </p:txBody>
      </p:sp>
      <p:sp>
        <p:nvSpPr>
          <p:cNvPr id="20" name="Text 17"/>
          <p:cNvSpPr/>
          <p:nvPr/>
        </p:nvSpPr>
        <p:spPr>
          <a:xfrm>
            <a:off x="9866948" y="4970026"/>
            <a:ext cx="3742730" cy="1451610"/>
          </a:xfrm>
          <a:prstGeom prst="rect">
            <a:avLst/>
          </a:prstGeom>
          <a:noFill/>
          <a:ln/>
        </p:spPr>
        <p:txBody>
          <a:bodyPr wrap="square" lIns="0" tIns="0" rIns="0" bIns="0" rtlCol="0" anchor="t"/>
          <a:lstStyle/>
          <a:p>
            <a:pPr algn="l" indent="0" marL="0">
              <a:lnSpc>
                <a:spcPts val="2850"/>
              </a:lnSpc>
              <a:buNone/>
            </a:pPr>
            <a:r>
              <a:rPr lang="en-US" sz="1750" b="1" dirty="0">
                <a:solidFill>
                  <a:srgbClr val="FFFFFF"/>
                </a:solidFill>
                <a:latin typeface="Montserrat" pitchFamily="34" charset="0"/>
                <a:ea typeface="Montserrat" pitchFamily="34" charset="-122"/>
                <a:cs typeface="Montserrat" pitchFamily="34" charset="-120"/>
              </a:rPr>
              <a:t>Objectif:</a:t>
            </a:r>
            <a:pPr algn="l" indent="0" marL="0">
              <a:lnSpc>
                <a:spcPts val="2850"/>
              </a:lnSpc>
              <a:buNone/>
            </a:pPr>
            <a:r>
              <a:rPr lang="en-US" sz="1750" dirty="0">
                <a:solidFill>
                  <a:srgbClr val="FFFFFF"/>
                </a:solidFill>
                <a:latin typeface="Montserrat" pitchFamily="34" charset="0"/>
                <a:ea typeface="Montserrat" pitchFamily="34" charset="-122"/>
                <a:cs typeface="Montserrat" pitchFamily="34" charset="-120"/>
              </a:rPr>
              <a:t> Intégration API externe pour la gestion des données produit avec des permissions contrôlées</a:t>
            </a:r>
            <a:endParaRPr lang="en-US" sz="1750" dirty="0"/>
          </a:p>
        </p:txBody>
      </p:sp>
      <p:sp>
        <p:nvSpPr>
          <p:cNvPr id="21" name="Text 18"/>
          <p:cNvSpPr/>
          <p:nvPr/>
        </p:nvSpPr>
        <p:spPr>
          <a:xfrm>
            <a:off x="793790" y="6903601"/>
            <a:ext cx="13042821" cy="362903"/>
          </a:xfrm>
          <a:prstGeom prst="rect">
            <a:avLst/>
          </a:prstGeom>
          <a:noFill/>
          <a:ln/>
        </p:spPr>
        <p:txBody>
          <a:bodyPr wrap="none" lIns="0" tIns="0" rIns="0" bIns="0" rtlCol="0" anchor="t"/>
          <a:lstStyle/>
          <a:p>
            <a:pPr algn="r" indent="0" marL="0">
              <a:lnSpc>
                <a:spcPts val="2850"/>
              </a:lnSpc>
              <a:buNone/>
            </a:pPr>
            <a:r>
              <a:rPr lang="en-US" sz="1750" dirty="0">
                <a:solidFill>
                  <a:srgbClr val="E5DCE6"/>
                </a:solidFill>
                <a:latin typeface="Montserrat" pitchFamily="34" charset="0"/>
                <a:ea typeface="Montserrat" pitchFamily="34" charset="-122"/>
                <a:cs typeface="Montserrat" pitchFamily="34" charset="-120"/>
              </a:rPr>
              <a:t>Page 8</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3180517" y="360640"/>
            <a:ext cx="5484495" cy="408503"/>
          </a:xfrm>
          <a:prstGeom prst="rect">
            <a:avLst/>
          </a:prstGeom>
          <a:noFill/>
          <a:ln/>
        </p:spPr>
        <p:txBody>
          <a:bodyPr wrap="none" lIns="0" tIns="0" rIns="0" bIns="0" rtlCol="0" anchor="t"/>
          <a:lstStyle/>
          <a:p>
            <a:pPr algn="l" indent="0" marL="0">
              <a:lnSpc>
                <a:spcPts val="3200"/>
              </a:lnSpc>
              <a:buNone/>
            </a:pPr>
            <a:r>
              <a:rPr lang="en-US" sz="2550" b="1" dirty="0">
                <a:solidFill>
                  <a:srgbClr val="EEAEF6"/>
                </a:solidFill>
                <a:latin typeface="Bricolage Grotesque Extra Bold" pitchFamily="34" charset="0"/>
                <a:ea typeface="Bricolage Grotesque Extra Bold" pitchFamily="34" charset="-122"/>
                <a:cs typeface="Bricolage Grotesque Extra Bold" pitchFamily="34" charset="-120"/>
              </a:rPr>
              <a:t>Test et validation des permissions</a:t>
            </a:r>
            <a:endParaRPr lang="en-US" sz="2550" dirty="0"/>
          </a:p>
        </p:txBody>
      </p:sp>
      <p:sp>
        <p:nvSpPr>
          <p:cNvPr id="3" name="Text 1"/>
          <p:cNvSpPr/>
          <p:nvPr/>
        </p:nvSpPr>
        <p:spPr>
          <a:xfrm>
            <a:off x="3180517" y="1095970"/>
            <a:ext cx="3031212" cy="245031"/>
          </a:xfrm>
          <a:prstGeom prst="rect">
            <a:avLst/>
          </a:prstGeom>
          <a:noFill/>
          <a:ln/>
        </p:spPr>
        <p:txBody>
          <a:bodyPr wrap="none" lIns="0" tIns="0" rIns="0" bIns="0" rtlCol="0" anchor="t"/>
          <a:lstStyle/>
          <a:p>
            <a:pPr algn="l" indent="0" marL="0">
              <a:lnSpc>
                <a:spcPts val="1900"/>
              </a:lnSpc>
              <a:buNone/>
            </a:pPr>
            <a:r>
              <a:rPr lang="en-US" sz="1500" b="1" dirty="0">
                <a:solidFill>
                  <a:srgbClr val="EEAEF6"/>
                </a:solidFill>
                <a:latin typeface="Bricolage Grotesque Extra Bold" pitchFamily="34" charset="0"/>
                <a:ea typeface="Bricolage Grotesque Extra Bold" pitchFamily="34" charset="-122"/>
                <a:cs typeface="Bricolage Grotesque Extra Bold" pitchFamily="34" charset="-120"/>
              </a:rPr>
              <a:t>Test utilisateur en lecture seule</a:t>
            </a:r>
            <a:endParaRPr lang="en-US" sz="1500" dirty="0"/>
          </a:p>
        </p:txBody>
      </p:sp>
      <p:sp>
        <p:nvSpPr>
          <p:cNvPr id="4" name="Text 2"/>
          <p:cNvSpPr/>
          <p:nvPr/>
        </p:nvSpPr>
        <p:spPr>
          <a:xfrm>
            <a:off x="3180517" y="1471732"/>
            <a:ext cx="3975259" cy="634841"/>
          </a:xfrm>
          <a:prstGeom prst="rect">
            <a:avLst/>
          </a:prstGeom>
          <a:noFill/>
          <a:ln/>
        </p:spPr>
        <p:txBody>
          <a:bodyPr wrap="square" lIns="0" tIns="0" rIns="0" bIns="0" rtlCol="0" anchor="t"/>
          <a:lstStyle/>
          <a:p>
            <a:pPr algn="l" indent="0" marL="0">
              <a:lnSpc>
                <a:spcPts val="1600"/>
              </a:lnSpc>
              <a:buNone/>
            </a:pPr>
            <a:r>
              <a:rPr lang="en-US" sz="1000" dirty="0">
                <a:solidFill>
                  <a:srgbClr val="000000"/>
                </a:solidFill>
                <a:latin typeface="Montserrat" pitchFamily="34" charset="0"/>
                <a:ea typeface="Montserrat" pitchFamily="34" charset="-122"/>
                <a:cs typeface="Montserrat" pitchFamily="34" charset="-120"/>
              </a:rPr>
              <a:t>✅</a:t>
            </a:r>
            <a:pPr algn="l" indent="0" marL="0">
              <a:lnSpc>
                <a:spcPts val="1600"/>
              </a:lnSpc>
              <a:buNone/>
            </a:pPr>
            <a:r>
              <a:rPr lang="en-US" sz="1000" dirty="0">
                <a:solidFill>
                  <a:srgbClr val="000000"/>
                </a:solidFill>
                <a:highlight>
                  <a:srgbClr val="EEAEF6"/>
                </a:highlight>
                <a:latin typeface="Montserrat" pitchFamily="34" charset="0"/>
                <a:ea typeface="Montserrat" pitchFamily="34" charset="-122"/>
                <a:cs typeface="Montserrat" pitchFamily="34" charset="-120"/>
              </a:rPr>
              <a:t> Les requêtes SELECT s'exécutent avec succès</a:t>
            </a:r>
            <a:pPr algn="l" indent="0" marL="0">
              <a:lnSpc>
                <a:spcPts val="1600"/>
              </a:lnSpc>
              <a:buNone/>
            </a:pPr>
            <a:r>
              <a:rPr lang="en-US" sz="1000" dirty="0">
                <a:solidFill>
                  <a:srgbClr val="E5DCE6"/>
                </a:solidFill>
                <a:latin typeface="Montserrat" pitchFamily="34" charset="0"/>
                <a:ea typeface="Montserrat" pitchFamily="34" charset="-122"/>
                <a:cs typeface="Montserrat" pitchFamily="34" charset="-120"/>
              </a:rPr>
              <a:t>, permettant la récupération des données pour les rapports et les analyses.</a:t>
            </a:r>
            <a:endParaRPr lang="en-US" sz="1000" dirty="0"/>
          </a:p>
        </p:txBody>
      </p:sp>
      <p:sp>
        <p:nvSpPr>
          <p:cNvPr id="5" name="Text 3"/>
          <p:cNvSpPr/>
          <p:nvPr/>
        </p:nvSpPr>
        <p:spPr>
          <a:xfrm>
            <a:off x="3180517" y="2224207"/>
            <a:ext cx="3975259" cy="634841"/>
          </a:xfrm>
          <a:prstGeom prst="rect">
            <a:avLst/>
          </a:prstGeom>
          <a:noFill/>
          <a:ln/>
        </p:spPr>
        <p:txBody>
          <a:bodyPr wrap="square" lIns="0" tIns="0" rIns="0" bIns="0" rtlCol="0" anchor="t"/>
          <a:lstStyle/>
          <a:p>
            <a:pPr algn="l" indent="0" marL="0">
              <a:lnSpc>
                <a:spcPts val="1600"/>
              </a:lnSpc>
              <a:buNone/>
            </a:pPr>
            <a:r>
              <a:rPr lang="en-US" sz="1000" dirty="0">
                <a:solidFill>
                  <a:srgbClr val="000000"/>
                </a:solidFill>
                <a:latin typeface="Montserrat" pitchFamily="34" charset="0"/>
                <a:ea typeface="Montserrat" pitchFamily="34" charset="-122"/>
                <a:cs typeface="Montserrat" pitchFamily="34" charset="-120"/>
              </a:rPr>
              <a:t>❌</a:t>
            </a:r>
            <a:pPr algn="l" indent="0" marL="0">
              <a:lnSpc>
                <a:spcPts val="1600"/>
              </a:lnSpc>
              <a:buNone/>
            </a:pPr>
            <a:r>
              <a:rPr lang="en-US" sz="1000" dirty="0">
                <a:solidFill>
                  <a:srgbClr val="000000"/>
                </a:solidFill>
                <a:highlight>
                  <a:srgbClr val="FF6B6B"/>
                </a:highlight>
                <a:latin typeface="Montserrat" pitchFamily="34" charset="0"/>
                <a:ea typeface="Montserrat" pitchFamily="34" charset="-122"/>
                <a:cs typeface="Montserrat" pitchFamily="34" charset="-120"/>
              </a:rPr>
              <a:t> Les opérations INSERT sont refusées</a:t>
            </a:r>
            <a:pPr algn="l" indent="0" marL="0">
              <a:lnSpc>
                <a:spcPts val="1600"/>
              </a:lnSpc>
              <a:buNone/>
            </a:pPr>
            <a:r>
              <a:rPr lang="en-US" sz="1000" dirty="0">
                <a:solidFill>
                  <a:srgbClr val="E5DCE6"/>
                </a:solidFill>
                <a:latin typeface="Montserrat" pitchFamily="34" charset="0"/>
                <a:ea typeface="Montserrat" pitchFamily="34" charset="-122"/>
                <a:cs typeface="Montserrat" pitchFamily="34" charset="-120"/>
              </a:rPr>
              <a:t>, empêchant la création non autorisée de données et maintenant l'intégrité des données.</a:t>
            </a:r>
            <a:endParaRPr lang="en-US" sz="1000" dirty="0"/>
          </a:p>
        </p:txBody>
      </p:sp>
      <p:sp>
        <p:nvSpPr>
          <p:cNvPr id="6" name="Shape 4"/>
          <p:cNvSpPr/>
          <p:nvPr/>
        </p:nvSpPr>
        <p:spPr>
          <a:xfrm>
            <a:off x="3180517" y="3071399"/>
            <a:ext cx="3975259" cy="23932"/>
          </a:xfrm>
          <a:prstGeom prst="rect">
            <a:avLst/>
          </a:prstGeom>
          <a:solidFill>
            <a:srgbClr val="E5DCE6">
              <a:alpha val="50000"/>
            </a:srgbClr>
          </a:solidFill>
          <a:ln/>
        </p:spPr>
      </p:sp>
      <p:sp>
        <p:nvSpPr>
          <p:cNvPr id="7" name="Text 5"/>
          <p:cNvSpPr/>
          <p:nvPr/>
        </p:nvSpPr>
        <p:spPr>
          <a:xfrm>
            <a:off x="3180517" y="3242310"/>
            <a:ext cx="1961078" cy="245031"/>
          </a:xfrm>
          <a:prstGeom prst="rect">
            <a:avLst/>
          </a:prstGeom>
          <a:noFill/>
          <a:ln/>
        </p:spPr>
        <p:txBody>
          <a:bodyPr wrap="none" lIns="0" tIns="0" rIns="0" bIns="0" rtlCol="0" anchor="t"/>
          <a:lstStyle/>
          <a:p>
            <a:pPr algn="l" indent="0" marL="0">
              <a:lnSpc>
                <a:spcPts val="1900"/>
              </a:lnSpc>
              <a:buNone/>
            </a:pPr>
            <a:r>
              <a:rPr lang="en-US" sz="1500" b="1" dirty="0">
                <a:solidFill>
                  <a:srgbClr val="EEAEF6"/>
                </a:solidFill>
                <a:latin typeface="Bricolage Grotesque Extra Bold" pitchFamily="34" charset="0"/>
                <a:ea typeface="Bricolage Grotesque Extra Bold" pitchFamily="34" charset="-122"/>
                <a:cs typeface="Bricolage Grotesque Extra Bold" pitchFamily="34" charset="-120"/>
              </a:rPr>
              <a:t>Test utilisateur API</a:t>
            </a:r>
            <a:endParaRPr lang="en-US" sz="1500" dirty="0"/>
          </a:p>
        </p:txBody>
      </p:sp>
      <p:sp>
        <p:nvSpPr>
          <p:cNvPr id="8" name="Text 6"/>
          <p:cNvSpPr/>
          <p:nvPr/>
        </p:nvSpPr>
        <p:spPr>
          <a:xfrm>
            <a:off x="3180517" y="3618071"/>
            <a:ext cx="3975259" cy="634841"/>
          </a:xfrm>
          <a:prstGeom prst="rect">
            <a:avLst/>
          </a:prstGeom>
          <a:noFill/>
          <a:ln/>
        </p:spPr>
        <p:txBody>
          <a:bodyPr wrap="square" lIns="0" tIns="0" rIns="0" bIns="0" rtlCol="0" anchor="t"/>
          <a:lstStyle/>
          <a:p>
            <a:pPr algn="l" indent="0" marL="0">
              <a:lnSpc>
                <a:spcPts val="1600"/>
              </a:lnSpc>
              <a:buNone/>
            </a:pPr>
            <a:r>
              <a:rPr lang="en-US" sz="1000" dirty="0">
                <a:solidFill>
                  <a:srgbClr val="000000"/>
                </a:solidFill>
                <a:latin typeface="Montserrat" pitchFamily="34" charset="0"/>
                <a:ea typeface="Montserrat" pitchFamily="34" charset="-122"/>
                <a:cs typeface="Montserrat" pitchFamily="34" charset="-120"/>
              </a:rPr>
              <a:t>✅</a:t>
            </a:r>
            <a:pPr algn="l" indent="0" marL="0">
              <a:lnSpc>
                <a:spcPts val="1600"/>
              </a:lnSpc>
              <a:buNone/>
            </a:pPr>
            <a:r>
              <a:rPr lang="en-US" sz="1000" dirty="0">
                <a:solidFill>
                  <a:srgbClr val="000000"/>
                </a:solidFill>
                <a:highlight>
                  <a:srgbClr val="EEAEF6"/>
                </a:highlight>
                <a:latin typeface="Montserrat" pitchFamily="34" charset="0"/>
                <a:ea typeface="Montserrat" pitchFamily="34" charset="-122"/>
                <a:cs typeface="Montserrat" pitchFamily="34" charset="-120"/>
              </a:rPr>
              <a:t> Les commandes INSERT et UPDATE fonctionnent parfaitement</a:t>
            </a:r>
            <a:pPr algn="l" indent="0" marL="0">
              <a:lnSpc>
                <a:spcPts val="1600"/>
              </a:lnSpc>
              <a:buNone/>
            </a:pPr>
            <a:r>
              <a:rPr lang="en-US" sz="1000" dirty="0">
                <a:solidFill>
                  <a:srgbClr val="E5DCE6"/>
                </a:solidFill>
                <a:latin typeface="Montserrat" pitchFamily="34" charset="0"/>
                <a:ea typeface="Montserrat" pitchFamily="34" charset="-122"/>
                <a:cs typeface="Montserrat" pitchFamily="34" charset="-120"/>
              </a:rPr>
              <a:t>, permettant à l'API de gérer les données produit comme prévu.</a:t>
            </a:r>
            <a:endParaRPr lang="en-US" sz="1000" dirty="0"/>
          </a:p>
        </p:txBody>
      </p:sp>
      <p:sp>
        <p:nvSpPr>
          <p:cNvPr id="9" name="Text 7"/>
          <p:cNvSpPr/>
          <p:nvPr/>
        </p:nvSpPr>
        <p:spPr>
          <a:xfrm>
            <a:off x="3180517" y="4370546"/>
            <a:ext cx="3975259" cy="634841"/>
          </a:xfrm>
          <a:prstGeom prst="rect">
            <a:avLst/>
          </a:prstGeom>
          <a:noFill/>
          <a:ln/>
        </p:spPr>
        <p:txBody>
          <a:bodyPr wrap="square" lIns="0" tIns="0" rIns="0" bIns="0" rtlCol="0" anchor="t"/>
          <a:lstStyle/>
          <a:p>
            <a:pPr algn="l" indent="0" marL="0">
              <a:lnSpc>
                <a:spcPts val="1600"/>
              </a:lnSpc>
              <a:buNone/>
            </a:pPr>
            <a:r>
              <a:rPr lang="en-US" sz="1000" dirty="0">
                <a:solidFill>
                  <a:srgbClr val="000000"/>
                </a:solidFill>
                <a:latin typeface="Montserrat" pitchFamily="34" charset="0"/>
                <a:ea typeface="Montserrat" pitchFamily="34" charset="-122"/>
                <a:cs typeface="Montserrat" pitchFamily="34" charset="-120"/>
              </a:rPr>
              <a:t>❌</a:t>
            </a:r>
            <a:pPr algn="l" indent="0" marL="0">
              <a:lnSpc>
                <a:spcPts val="1600"/>
              </a:lnSpc>
              <a:buNone/>
            </a:pPr>
            <a:r>
              <a:rPr lang="en-US" sz="1000" dirty="0">
                <a:solidFill>
                  <a:srgbClr val="000000"/>
                </a:solidFill>
                <a:highlight>
                  <a:srgbClr val="FF6B6B"/>
                </a:highlight>
                <a:latin typeface="Montserrat" pitchFamily="34" charset="0"/>
                <a:ea typeface="Montserrat" pitchFamily="34" charset="-122"/>
                <a:cs typeface="Montserrat" pitchFamily="34" charset="-120"/>
              </a:rPr>
              <a:t> Les commandes DELETE et ALTER sont bloquées</a:t>
            </a:r>
            <a:pPr algn="l" indent="0" marL="0">
              <a:lnSpc>
                <a:spcPts val="1600"/>
              </a:lnSpc>
              <a:buNone/>
            </a:pPr>
            <a:r>
              <a:rPr lang="en-US" sz="1000" dirty="0">
                <a:solidFill>
                  <a:srgbClr val="E5DCE6"/>
                </a:solidFill>
                <a:latin typeface="Montserrat" pitchFamily="34" charset="0"/>
                <a:ea typeface="Montserrat" pitchFamily="34" charset="-122"/>
                <a:cs typeface="Montserrat" pitchFamily="34" charset="-120"/>
              </a:rPr>
              <a:t>, protégeant contre la perte accidentelle de données ou les modifications structurelles.</a:t>
            </a:r>
            <a:endParaRPr lang="en-US" sz="1000" dirty="0"/>
          </a:p>
        </p:txBody>
      </p:sp>
      <p:pic>
        <p:nvPicPr>
          <p:cNvPr id="10" name="Image 0" descr="preencoded.png">    </p:cNvPr>
          <p:cNvPicPr>
            <a:picLocks noChangeAspect="1"/>
          </p:cNvPicPr>
          <p:nvPr/>
        </p:nvPicPr>
        <p:blipFill>
          <a:blip r:embed="rId1"/>
          <a:stretch>
            <a:fillRect/>
          </a:stretch>
        </p:blipFill>
        <p:spPr>
          <a:xfrm>
            <a:off x="7482245" y="1112282"/>
            <a:ext cx="3975259" cy="3975259"/>
          </a:xfrm>
          <a:prstGeom prst="rect">
            <a:avLst/>
          </a:prstGeom>
        </p:spPr>
      </p:pic>
      <p:sp>
        <p:nvSpPr>
          <p:cNvPr id="11" name="Text 8"/>
          <p:cNvSpPr/>
          <p:nvPr/>
        </p:nvSpPr>
        <p:spPr>
          <a:xfrm>
            <a:off x="7482245" y="5234583"/>
            <a:ext cx="1961078" cy="245031"/>
          </a:xfrm>
          <a:prstGeom prst="rect">
            <a:avLst/>
          </a:prstGeom>
          <a:noFill/>
          <a:ln/>
        </p:spPr>
        <p:txBody>
          <a:bodyPr wrap="none" lIns="0" tIns="0" rIns="0" bIns="0" rtlCol="0" anchor="t"/>
          <a:lstStyle/>
          <a:p>
            <a:pPr algn="l" indent="0" marL="0">
              <a:lnSpc>
                <a:spcPts val="1900"/>
              </a:lnSpc>
              <a:buNone/>
            </a:pPr>
            <a:r>
              <a:rPr lang="en-US" sz="1500" b="1" dirty="0">
                <a:solidFill>
                  <a:srgbClr val="EEAEF6"/>
                </a:solidFill>
                <a:latin typeface="Bricolage Grotesque Extra Bold" pitchFamily="34" charset="0"/>
                <a:ea typeface="Bricolage Grotesque Extra Bold" pitchFamily="34" charset="-122"/>
                <a:cs typeface="Bricolage Grotesque Extra Bold" pitchFamily="34" charset="-120"/>
              </a:rPr>
              <a:t>Test administrateur</a:t>
            </a:r>
            <a:endParaRPr lang="en-US" sz="1500" dirty="0"/>
          </a:p>
        </p:txBody>
      </p:sp>
      <p:sp>
        <p:nvSpPr>
          <p:cNvPr id="12" name="Text 9"/>
          <p:cNvSpPr/>
          <p:nvPr/>
        </p:nvSpPr>
        <p:spPr>
          <a:xfrm>
            <a:off x="7482245" y="5610344"/>
            <a:ext cx="3975259" cy="634841"/>
          </a:xfrm>
          <a:prstGeom prst="rect">
            <a:avLst/>
          </a:prstGeom>
          <a:noFill/>
          <a:ln/>
        </p:spPr>
        <p:txBody>
          <a:bodyPr wrap="square" lIns="0" tIns="0" rIns="0" bIns="0" rtlCol="0" anchor="t"/>
          <a:lstStyle/>
          <a:p>
            <a:pPr algn="l" indent="0" marL="0">
              <a:lnSpc>
                <a:spcPts val="1600"/>
              </a:lnSpc>
              <a:buNone/>
            </a:pPr>
            <a:r>
              <a:rPr lang="en-US" sz="1000" dirty="0">
                <a:solidFill>
                  <a:srgbClr val="000000"/>
                </a:solidFill>
                <a:latin typeface="Montserrat" pitchFamily="34" charset="0"/>
                <a:ea typeface="Montserrat" pitchFamily="34" charset="-122"/>
                <a:cs typeface="Montserrat" pitchFamily="34" charset="-120"/>
              </a:rPr>
              <a:t>✅</a:t>
            </a:r>
            <a:pPr algn="l" indent="0" marL="0">
              <a:lnSpc>
                <a:spcPts val="1600"/>
              </a:lnSpc>
              <a:buNone/>
            </a:pPr>
            <a:r>
              <a:rPr lang="en-US" sz="1000" dirty="0">
                <a:solidFill>
                  <a:srgbClr val="000000"/>
                </a:solidFill>
                <a:highlight>
                  <a:srgbClr val="EEAEF6"/>
                </a:highlight>
                <a:latin typeface="Montserrat" pitchFamily="34" charset="0"/>
                <a:ea typeface="Montserrat" pitchFamily="34" charset="-122"/>
                <a:cs typeface="Montserrat" pitchFamily="34" charset="-120"/>
              </a:rPr>
              <a:t> Contrôle total vérifié</a:t>
            </a:r>
            <a:pPr algn="l" indent="0" marL="0">
              <a:lnSpc>
                <a:spcPts val="1600"/>
              </a:lnSpc>
              <a:buNone/>
            </a:pPr>
            <a:r>
              <a:rPr lang="en-US" sz="1000" dirty="0">
                <a:solidFill>
                  <a:srgbClr val="E5DCE6"/>
                </a:solidFill>
                <a:latin typeface="Montserrat" pitchFamily="34" charset="0"/>
                <a:ea typeface="Montserrat" pitchFamily="34" charset="-122"/>
                <a:cs typeface="Montserrat" pitchFamily="34" charset="-120"/>
              </a:rPr>
              <a:t> sur toutes les opérations : les commandes SELECT, INSERT, UPDATE, DELETE, ALTER, DROP et CREATE s'exécutent sans restrictions.</a:t>
            </a:r>
            <a:endParaRPr lang="en-US" sz="1000" dirty="0"/>
          </a:p>
        </p:txBody>
      </p:sp>
      <p:sp>
        <p:nvSpPr>
          <p:cNvPr id="13" name="Shape 10"/>
          <p:cNvSpPr/>
          <p:nvPr/>
        </p:nvSpPr>
        <p:spPr>
          <a:xfrm>
            <a:off x="7482245" y="6392228"/>
            <a:ext cx="3975259" cy="973574"/>
          </a:xfrm>
          <a:prstGeom prst="roundRect">
            <a:avLst>
              <a:gd name="adj" fmla="val 5640"/>
            </a:avLst>
          </a:prstGeom>
          <a:solidFill>
            <a:srgbClr val="3E0845"/>
          </a:solidFill>
          <a:ln/>
        </p:spPr>
      </p:sp>
      <p:pic>
        <p:nvPicPr>
          <p:cNvPr id="14" name="Image 1" descr="preencoded.png">    </p:cNvPr>
          <p:cNvPicPr>
            <a:picLocks noChangeAspect="1"/>
          </p:cNvPicPr>
          <p:nvPr/>
        </p:nvPicPr>
        <p:blipFill>
          <a:blip r:embed="rId2"/>
          <a:stretch>
            <a:fillRect/>
          </a:stretch>
        </p:blipFill>
        <p:spPr>
          <a:xfrm>
            <a:off x="7612975" y="6593562"/>
            <a:ext cx="163354" cy="130731"/>
          </a:xfrm>
          <a:prstGeom prst="rect">
            <a:avLst/>
          </a:prstGeom>
        </p:spPr>
      </p:pic>
      <p:sp>
        <p:nvSpPr>
          <p:cNvPr id="15" name="Text 11"/>
          <p:cNvSpPr/>
          <p:nvPr/>
        </p:nvSpPr>
        <p:spPr>
          <a:xfrm>
            <a:off x="7907060" y="6555581"/>
            <a:ext cx="3419713" cy="627221"/>
          </a:xfrm>
          <a:prstGeom prst="rect">
            <a:avLst/>
          </a:prstGeom>
          <a:noFill/>
          <a:ln/>
        </p:spPr>
        <p:txBody>
          <a:bodyPr wrap="square" lIns="0" tIns="0" rIns="0" bIns="0" rtlCol="0" anchor="t"/>
          <a:lstStyle/>
          <a:p>
            <a:pPr algn="l" indent="0" marL="0">
              <a:lnSpc>
                <a:spcPts val="1600"/>
              </a:lnSpc>
              <a:buNone/>
            </a:pPr>
            <a:r>
              <a:rPr lang="en-US" sz="1000" b="1" dirty="0">
                <a:solidFill>
                  <a:srgbClr val="FFFFFF"/>
                </a:solidFill>
                <a:latin typeface="Montserrat" pitchFamily="34" charset="0"/>
                <a:ea typeface="Montserrat" pitchFamily="34" charset="-122"/>
                <a:cs typeface="Montserrat" pitchFamily="34" charset="-120"/>
              </a:rPr>
              <a:t>Validation de sécurité :</a:t>
            </a:r>
            <a:pPr algn="l" indent="0" marL="0">
              <a:lnSpc>
                <a:spcPts val="1600"/>
              </a:lnSpc>
              <a:buNone/>
            </a:pPr>
            <a:r>
              <a:rPr lang="en-US" sz="1000" dirty="0">
                <a:solidFill>
                  <a:srgbClr val="FFFFFF"/>
                </a:solidFill>
                <a:latin typeface="Montserrat" pitchFamily="34" charset="0"/>
                <a:ea typeface="Montserrat" pitchFamily="34" charset="-122"/>
                <a:cs typeface="Montserrat" pitchFamily="34" charset="-120"/>
              </a:rPr>
              <a:t> Toutes les limites de permission fonctionnent correctement, appliquant le principe du moindre privilège.</a:t>
            </a:r>
            <a:endParaRPr lang="en-US" sz="1000" dirty="0"/>
          </a:p>
        </p:txBody>
      </p:sp>
      <p:sp>
        <p:nvSpPr>
          <p:cNvPr id="16" name="Text 12"/>
          <p:cNvSpPr/>
          <p:nvPr/>
        </p:nvSpPr>
        <p:spPr>
          <a:xfrm>
            <a:off x="3180517" y="7659886"/>
            <a:ext cx="8269367" cy="209074"/>
          </a:xfrm>
          <a:prstGeom prst="rect">
            <a:avLst/>
          </a:prstGeom>
          <a:noFill/>
          <a:ln/>
        </p:spPr>
        <p:txBody>
          <a:bodyPr wrap="none" lIns="0" tIns="0" rIns="0" bIns="0" rtlCol="0" anchor="t"/>
          <a:lstStyle/>
          <a:p>
            <a:pPr algn="l" indent="0" marL="0">
              <a:lnSpc>
                <a:spcPts val="1600"/>
              </a:lnSpc>
              <a:buNone/>
            </a:pPr>
            <a:r>
              <a:rPr lang="en-US" sz="1000" dirty="0">
                <a:solidFill>
                  <a:srgbClr val="E5DCE6"/>
                </a:solidFill>
                <a:latin typeface="Montserrat" pitchFamily="34" charset="0"/>
                <a:ea typeface="Montserrat" pitchFamily="34" charset="-122"/>
                <a:cs typeface="Montserrat" pitchFamily="34" charset="-120"/>
              </a:rPr>
              <a:t>                                                                                                                                                                                                              Page 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29600"/>
          </a:xfrm>
          <a:prstGeom prst="rect">
            <a:avLst/>
          </a:prstGeom>
        </p:spPr>
      </p:pic>
      <p:sp>
        <p:nvSpPr>
          <p:cNvPr id="3" name="Shape 0"/>
          <p:cNvSpPr/>
          <p:nvPr/>
        </p:nvSpPr>
        <p:spPr>
          <a:xfrm>
            <a:off x="6119574" y="643414"/>
            <a:ext cx="1081445" cy="339923"/>
          </a:xfrm>
          <a:prstGeom prst="roundRect">
            <a:avLst>
              <a:gd name="adj" fmla="val 17884"/>
            </a:avLst>
          </a:prstGeom>
          <a:solidFill>
            <a:srgbClr val="3E0845"/>
          </a:solidFill>
          <a:ln/>
        </p:spPr>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28040" y="741045"/>
            <a:ext cx="144661" cy="144661"/>
          </a:xfrm>
          <a:prstGeom prst="rect">
            <a:avLst/>
          </a:prstGeom>
        </p:spPr>
      </p:pic>
      <p:sp>
        <p:nvSpPr>
          <p:cNvPr id="5" name="Text 1"/>
          <p:cNvSpPr/>
          <p:nvPr/>
        </p:nvSpPr>
        <p:spPr>
          <a:xfrm>
            <a:off x="6444972" y="697587"/>
            <a:ext cx="647581" cy="231577"/>
          </a:xfrm>
          <a:prstGeom prst="rect">
            <a:avLst/>
          </a:prstGeom>
          <a:noFill/>
          <a:ln/>
        </p:spPr>
        <p:txBody>
          <a:bodyPr wrap="none" lIns="0" tIns="0" rIns="0" bIns="0" rtlCol="0" anchor="t"/>
          <a:lstStyle/>
          <a:p>
            <a:pPr algn="l" indent="0" marL="0">
              <a:lnSpc>
                <a:spcPts val="1800"/>
              </a:lnSpc>
              <a:buNone/>
            </a:pPr>
            <a:r>
              <a:rPr lang="en-US" sz="1100" dirty="0">
                <a:solidFill>
                  <a:srgbClr val="E5DCE6"/>
                </a:solidFill>
                <a:latin typeface="Montserrat" pitchFamily="34" charset="0"/>
                <a:ea typeface="Montserrat" pitchFamily="34" charset="-122"/>
                <a:cs typeface="Montserrat" pitchFamily="34" charset="-120"/>
              </a:rPr>
              <a:t>PARTIE 5</a:t>
            </a:r>
            <a:endParaRPr lang="en-US" sz="1100" dirty="0"/>
          </a:p>
        </p:txBody>
      </p:sp>
      <p:sp>
        <p:nvSpPr>
          <p:cNvPr id="6" name="Text 2"/>
          <p:cNvSpPr/>
          <p:nvPr/>
        </p:nvSpPr>
        <p:spPr>
          <a:xfrm>
            <a:off x="6119574" y="1055608"/>
            <a:ext cx="7877651" cy="1130618"/>
          </a:xfrm>
          <a:prstGeom prst="rect">
            <a:avLst/>
          </a:prstGeom>
          <a:noFill/>
          <a:ln/>
        </p:spPr>
        <p:txBody>
          <a:bodyPr wrap="square" lIns="0" tIns="0" rIns="0" bIns="0" rtlCol="0" anchor="t"/>
          <a:lstStyle/>
          <a:p>
            <a:pPr algn="l" indent="0" marL="0">
              <a:lnSpc>
                <a:spcPts val="4450"/>
              </a:lnSpc>
              <a:buNone/>
            </a:pPr>
            <a:r>
              <a:rPr lang="en-US" sz="3550" b="1" dirty="0">
                <a:solidFill>
                  <a:srgbClr val="EEAEF6"/>
                </a:solidFill>
                <a:latin typeface="Bricolage Grotesque Extra Bold" pitchFamily="34" charset="0"/>
                <a:ea typeface="Bricolage Grotesque Extra Bold" pitchFamily="34" charset="-122"/>
                <a:cs typeface="Bricolage Grotesque Extra Bold" pitchFamily="34" charset="-120"/>
              </a:rPr>
              <a:t>Sauvegarde et Récupération d'Urgence</a:t>
            </a:r>
            <a:endParaRPr lang="en-US" sz="3550" dirty="0"/>
          </a:p>
        </p:txBody>
      </p:sp>
      <p:sp>
        <p:nvSpPr>
          <p:cNvPr id="7" name="Shape 3"/>
          <p:cNvSpPr/>
          <p:nvPr/>
        </p:nvSpPr>
        <p:spPr>
          <a:xfrm>
            <a:off x="6323052" y="2457569"/>
            <a:ext cx="22860" cy="4635460"/>
          </a:xfrm>
          <a:prstGeom prst="roundRect">
            <a:avLst>
              <a:gd name="adj" fmla="val 332410"/>
            </a:avLst>
          </a:prstGeom>
          <a:solidFill>
            <a:srgbClr val="414677"/>
          </a:solidFill>
          <a:ln/>
        </p:spPr>
      </p:sp>
      <p:sp>
        <p:nvSpPr>
          <p:cNvPr id="8" name="Shape 4"/>
          <p:cNvSpPr/>
          <p:nvPr/>
        </p:nvSpPr>
        <p:spPr>
          <a:xfrm>
            <a:off x="6503730" y="2649617"/>
            <a:ext cx="542687" cy="22860"/>
          </a:xfrm>
          <a:prstGeom prst="roundRect">
            <a:avLst>
              <a:gd name="adj" fmla="val 332410"/>
            </a:avLst>
          </a:prstGeom>
          <a:solidFill>
            <a:srgbClr val="414677"/>
          </a:solidFill>
          <a:ln/>
        </p:spPr>
      </p:sp>
      <p:sp>
        <p:nvSpPr>
          <p:cNvPr id="9" name="Shape 5"/>
          <p:cNvSpPr/>
          <p:nvPr/>
        </p:nvSpPr>
        <p:spPr>
          <a:xfrm>
            <a:off x="6119515" y="2457569"/>
            <a:ext cx="407075" cy="407075"/>
          </a:xfrm>
          <a:prstGeom prst="roundRect">
            <a:avLst>
              <a:gd name="adj" fmla="val 18667"/>
            </a:avLst>
          </a:prstGeom>
          <a:solidFill>
            <a:srgbClr val="282D5E"/>
          </a:solidFill>
          <a:ln/>
        </p:spPr>
      </p:sp>
      <p:sp>
        <p:nvSpPr>
          <p:cNvPr id="10" name="Text 6"/>
          <p:cNvSpPr/>
          <p:nvPr/>
        </p:nvSpPr>
        <p:spPr>
          <a:xfrm>
            <a:off x="6187321" y="2491442"/>
            <a:ext cx="271343" cy="339209"/>
          </a:xfrm>
          <a:prstGeom prst="rect">
            <a:avLst/>
          </a:prstGeom>
          <a:noFill/>
          <a:ln/>
        </p:spPr>
        <p:txBody>
          <a:bodyPr wrap="none" lIns="0" tIns="0" rIns="0" bIns="0" rtlCol="0" anchor="t"/>
          <a:lstStyle/>
          <a:p>
            <a:pPr algn="ctr" indent="0" marL="0">
              <a:lnSpc>
                <a:spcPts val="2100"/>
              </a:lnSpc>
              <a:buNone/>
            </a:pPr>
            <a:r>
              <a:rPr lang="en-US" sz="2100" b="1" dirty="0">
                <a:solidFill>
                  <a:srgbClr val="E5DCE6"/>
                </a:solidFill>
                <a:latin typeface="Bricolage Grotesque Extra Bold" pitchFamily="34" charset="0"/>
                <a:ea typeface="Bricolage Grotesque Extra Bold" pitchFamily="34" charset="-122"/>
                <a:cs typeface="Bricolage Grotesque Extra Bold" pitchFamily="34" charset="-120"/>
              </a:rPr>
              <a:t>1</a:t>
            </a:r>
            <a:endParaRPr lang="en-US" sz="2100" dirty="0"/>
          </a:p>
        </p:txBody>
      </p:sp>
      <p:sp>
        <p:nvSpPr>
          <p:cNvPr id="11" name="Text 7"/>
          <p:cNvSpPr/>
          <p:nvPr/>
        </p:nvSpPr>
        <p:spPr>
          <a:xfrm>
            <a:off x="7227689" y="2519720"/>
            <a:ext cx="2261473" cy="282535"/>
          </a:xfrm>
          <a:prstGeom prst="rect">
            <a:avLst/>
          </a:prstGeom>
          <a:noFill/>
          <a:ln/>
        </p:spPr>
        <p:txBody>
          <a:bodyPr wrap="none" lIns="0" tIns="0" rIns="0" bIns="0" rtlCol="0" anchor="t"/>
          <a:lstStyle/>
          <a:p>
            <a:pPr algn="l" indent="0" marL="0">
              <a:lnSpc>
                <a:spcPts val="2200"/>
              </a:lnSpc>
              <a:buNone/>
            </a:pPr>
            <a:r>
              <a:rPr lang="en-US" sz="1750" b="1" dirty="0">
                <a:solidFill>
                  <a:srgbClr val="E5DCE6"/>
                </a:solidFill>
                <a:latin typeface="Bricolage Grotesque Extra Bold" pitchFamily="34" charset="0"/>
                <a:ea typeface="Bricolage Grotesque Extra Bold" pitchFamily="34" charset="-122"/>
                <a:cs typeface="Bricolage Grotesque Extra Bold" pitchFamily="34" charset="-120"/>
              </a:rPr>
              <a:t>CMD</a:t>
            </a:r>
            <a:endParaRPr lang="en-US" sz="1750" dirty="0"/>
          </a:p>
        </p:txBody>
      </p:sp>
      <p:sp>
        <p:nvSpPr>
          <p:cNvPr id="12" name="Text 8"/>
          <p:cNvSpPr/>
          <p:nvPr/>
        </p:nvSpPr>
        <p:spPr>
          <a:xfrm>
            <a:off x="7227689" y="2910721"/>
            <a:ext cx="6769537" cy="289560"/>
          </a:xfrm>
          <a:prstGeom prst="rect">
            <a:avLst/>
          </a:prstGeom>
          <a:noFill/>
          <a:ln/>
        </p:spPr>
        <p:txBody>
          <a:bodyPr wrap="none" lIns="0" tIns="0" rIns="0" bIns="0" rtlCol="0" anchor="t"/>
          <a:lstStyle/>
          <a:p>
            <a:pPr algn="l" indent="0" marL="0">
              <a:lnSpc>
                <a:spcPts val="2250"/>
              </a:lnSpc>
              <a:buNone/>
            </a:pPr>
            <a:r>
              <a:rPr lang="en-US" sz="1400" dirty="0">
                <a:solidFill>
                  <a:srgbClr val="E5DCE6"/>
                </a:solidFill>
                <a:latin typeface="Montserrat" pitchFamily="34" charset="0"/>
                <a:ea typeface="Montserrat" pitchFamily="34" charset="-122"/>
                <a:cs typeface="Montserrat" pitchFamily="34" charset="-120"/>
              </a:rPr>
              <a:t>C:\Users\userlocal&gt;cd C:\xampp\mysql\bin (onn se dirige)</a:t>
            </a:r>
            <a:endParaRPr lang="en-US" sz="1400" dirty="0"/>
          </a:p>
        </p:txBody>
      </p:sp>
      <p:sp>
        <p:nvSpPr>
          <p:cNvPr id="13" name="Shape 9"/>
          <p:cNvSpPr/>
          <p:nvPr/>
        </p:nvSpPr>
        <p:spPr>
          <a:xfrm>
            <a:off x="6503730" y="3754160"/>
            <a:ext cx="542687" cy="22860"/>
          </a:xfrm>
          <a:prstGeom prst="roundRect">
            <a:avLst>
              <a:gd name="adj" fmla="val 332410"/>
            </a:avLst>
          </a:prstGeom>
          <a:solidFill>
            <a:srgbClr val="414677"/>
          </a:solidFill>
          <a:ln/>
        </p:spPr>
      </p:sp>
      <p:sp>
        <p:nvSpPr>
          <p:cNvPr id="14" name="Shape 10"/>
          <p:cNvSpPr/>
          <p:nvPr/>
        </p:nvSpPr>
        <p:spPr>
          <a:xfrm>
            <a:off x="6119515" y="3562112"/>
            <a:ext cx="407075" cy="407075"/>
          </a:xfrm>
          <a:prstGeom prst="roundRect">
            <a:avLst>
              <a:gd name="adj" fmla="val 18667"/>
            </a:avLst>
          </a:prstGeom>
          <a:solidFill>
            <a:srgbClr val="282D5E"/>
          </a:solidFill>
          <a:ln/>
        </p:spPr>
      </p:sp>
      <p:sp>
        <p:nvSpPr>
          <p:cNvPr id="15" name="Text 11"/>
          <p:cNvSpPr/>
          <p:nvPr/>
        </p:nvSpPr>
        <p:spPr>
          <a:xfrm>
            <a:off x="6187321" y="3595985"/>
            <a:ext cx="271343" cy="339209"/>
          </a:xfrm>
          <a:prstGeom prst="rect">
            <a:avLst/>
          </a:prstGeom>
          <a:noFill/>
          <a:ln/>
        </p:spPr>
        <p:txBody>
          <a:bodyPr wrap="none" lIns="0" tIns="0" rIns="0" bIns="0" rtlCol="0" anchor="t"/>
          <a:lstStyle/>
          <a:p>
            <a:pPr algn="ctr" indent="0" marL="0">
              <a:lnSpc>
                <a:spcPts val="2100"/>
              </a:lnSpc>
              <a:buNone/>
            </a:pPr>
            <a:r>
              <a:rPr lang="en-US" sz="2100" b="1" dirty="0">
                <a:solidFill>
                  <a:srgbClr val="E5DCE6"/>
                </a:solidFill>
                <a:latin typeface="Bricolage Grotesque Extra Bold" pitchFamily="34" charset="0"/>
                <a:ea typeface="Bricolage Grotesque Extra Bold" pitchFamily="34" charset="-122"/>
                <a:cs typeface="Bricolage Grotesque Extra Bold" pitchFamily="34" charset="-120"/>
              </a:rPr>
              <a:t>2</a:t>
            </a:r>
            <a:endParaRPr lang="en-US" sz="2100" dirty="0"/>
          </a:p>
        </p:txBody>
      </p:sp>
      <p:sp>
        <p:nvSpPr>
          <p:cNvPr id="16" name="Text 12"/>
          <p:cNvSpPr/>
          <p:nvPr/>
        </p:nvSpPr>
        <p:spPr>
          <a:xfrm>
            <a:off x="7227689" y="3624263"/>
            <a:ext cx="2812613" cy="282535"/>
          </a:xfrm>
          <a:prstGeom prst="rect">
            <a:avLst/>
          </a:prstGeom>
          <a:noFill/>
          <a:ln/>
        </p:spPr>
        <p:txBody>
          <a:bodyPr wrap="none" lIns="0" tIns="0" rIns="0" bIns="0" rtlCol="0" anchor="t"/>
          <a:lstStyle/>
          <a:p>
            <a:pPr algn="l" indent="0" marL="0">
              <a:lnSpc>
                <a:spcPts val="2200"/>
              </a:lnSpc>
              <a:buNone/>
            </a:pPr>
            <a:r>
              <a:rPr lang="en-US" sz="1750" b="1" dirty="0">
                <a:solidFill>
                  <a:srgbClr val="E5DCE6"/>
                </a:solidFill>
                <a:latin typeface="Bricolage Grotesque Extra Bold" pitchFamily="34" charset="0"/>
                <a:ea typeface="Bricolage Grotesque Extra Bold" pitchFamily="34" charset="-122"/>
                <a:cs typeface="Bricolage Grotesque Extra Bold" pitchFamily="34" charset="-120"/>
              </a:rPr>
              <a:t>Sauvegarde des données</a:t>
            </a:r>
            <a:endParaRPr lang="en-US" sz="1750" dirty="0"/>
          </a:p>
        </p:txBody>
      </p:sp>
      <p:sp>
        <p:nvSpPr>
          <p:cNvPr id="17" name="Text 13"/>
          <p:cNvSpPr/>
          <p:nvPr/>
        </p:nvSpPr>
        <p:spPr>
          <a:xfrm>
            <a:off x="7227689" y="4015264"/>
            <a:ext cx="6769537" cy="579120"/>
          </a:xfrm>
          <a:prstGeom prst="rect">
            <a:avLst/>
          </a:prstGeom>
          <a:noFill/>
          <a:ln/>
        </p:spPr>
        <p:txBody>
          <a:bodyPr wrap="square" lIns="0" tIns="0" rIns="0" bIns="0" rtlCol="0" anchor="t"/>
          <a:lstStyle/>
          <a:p>
            <a:pPr algn="l" indent="0" marL="0">
              <a:lnSpc>
                <a:spcPts val="2250"/>
              </a:lnSpc>
              <a:buNone/>
            </a:pPr>
            <a:r>
              <a:rPr lang="en-US" sz="1400" dirty="0">
                <a:solidFill>
                  <a:srgbClr val="E5DCE6"/>
                </a:solidFill>
                <a:latin typeface="Montserrat" pitchFamily="34" charset="0"/>
                <a:ea typeface="Montserrat" pitchFamily="34" charset="-122"/>
                <a:cs typeface="Montserrat" pitchFamily="34" charset="-120"/>
              </a:rPr>
              <a:t>C:\xampp\mysql\bin&gt;mysqldump -u root gestionstock &gt; C:\xampp\backup_gestionstock.sql (sauvegarde)</a:t>
            </a:r>
            <a:endParaRPr lang="en-US" sz="1400" dirty="0"/>
          </a:p>
        </p:txBody>
      </p:sp>
      <p:sp>
        <p:nvSpPr>
          <p:cNvPr id="18" name="Shape 14"/>
          <p:cNvSpPr/>
          <p:nvPr/>
        </p:nvSpPr>
        <p:spPr>
          <a:xfrm>
            <a:off x="6503730" y="5148263"/>
            <a:ext cx="542687" cy="22860"/>
          </a:xfrm>
          <a:prstGeom prst="roundRect">
            <a:avLst>
              <a:gd name="adj" fmla="val 332410"/>
            </a:avLst>
          </a:prstGeom>
          <a:solidFill>
            <a:srgbClr val="414677"/>
          </a:solidFill>
          <a:ln/>
        </p:spPr>
      </p:sp>
      <p:sp>
        <p:nvSpPr>
          <p:cNvPr id="19" name="Shape 15"/>
          <p:cNvSpPr/>
          <p:nvPr/>
        </p:nvSpPr>
        <p:spPr>
          <a:xfrm>
            <a:off x="6119515" y="4956215"/>
            <a:ext cx="407075" cy="407075"/>
          </a:xfrm>
          <a:prstGeom prst="roundRect">
            <a:avLst>
              <a:gd name="adj" fmla="val 18667"/>
            </a:avLst>
          </a:prstGeom>
          <a:solidFill>
            <a:srgbClr val="282D5E"/>
          </a:solidFill>
          <a:ln/>
        </p:spPr>
      </p:sp>
      <p:sp>
        <p:nvSpPr>
          <p:cNvPr id="20" name="Text 16"/>
          <p:cNvSpPr/>
          <p:nvPr/>
        </p:nvSpPr>
        <p:spPr>
          <a:xfrm>
            <a:off x="6187321" y="4990088"/>
            <a:ext cx="271343" cy="339209"/>
          </a:xfrm>
          <a:prstGeom prst="rect">
            <a:avLst/>
          </a:prstGeom>
          <a:noFill/>
          <a:ln/>
        </p:spPr>
        <p:txBody>
          <a:bodyPr wrap="none" lIns="0" tIns="0" rIns="0" bIns="0" rtlCol="0" anchor="t"/>
          <a:lstStyle/>
          <a:p>
            <a:pPr algn="ctr" indent="0" marL="0">
              <a:lnSpc>
                <a:spcPts val="2100"/>
              </a:lnSpc>
              <a:buNone/>
            </a:pPr>
            <a:r>
              <a:rPr lang="en-US" sz="2100" b="1" dirty="0">
                <a:solidFill>
                  <a:srgbClr val="E5DCE6"/>
                </a:solidFill>
                <a:latin typeface="Bricolage Grotesque Extra Bold" pitchFamily="34" charset="0"/>
                <a:ea typeface="Bricolage Grotesque Extra Bold" pitchFamily="34" charset="-122"/>
                <a:cs typeface="Bricolage Grotesque Extra Bold" pitchFamily="34" charset="-120"/>
              </a:rPr>
              <a:t>3</a:t>
            </a:r>
            <a:endParaRPr lang="en-US" sz="2100" dirty="0"/>
          </a:p>
        </p:txBody>
      </p:sp>
      <p:sp>
        <p:nvSpPr>
          <p:cNvPr id="21" name="Text 17"/>
          <p:cNvSpPr/>
          <p:nvPr/>
        </p:nvSpPr>
        <p:spPr>
          <a:xfrm>
            <a:off x="7227689" y="5018365"/>
            <a:ext cx="2608540" cy="282535"/>
          </a:xfrm>
          <a:prstGeom prst="rect">
            <a:avLst/>
          </a:prstGeom>
          <a:noFill/>
          <a:ln/>
        </p:spPr>
        <p:txBody>
          <a:bodyPr wrap="none" lIns="0" tIns="0" rIns="0" bIns="0" rtlCol="0" anchor="t"/>
          <a:lstStyle/>
          <a:p>
            <a:pPr algn="l" indent="0" marL="0">
              <a:lnSpc>
                <a:spcPts val="2200"/>
              </a:lnSpc>
              <a:buNone/>
            </a:pPr>
            <a:r>
              <a:rPr lang="en-US" sz="1750" b="1" dirty="0">
                <a:solidFill>
                  <a:srgbClr val="E5DCE6"/>
                </a:solidFill>
                <a:latin typeface="Bricolage Grotesque Extra Bold" pitchFamily="34" charset="0"/>
                <a:ea typeface="Bricolage Grotesque Extra Bold" pitchFamily="34" charset="-122"/>
                <a:cs typeface="Bricolage Grotesque Extra Bold" pitchFamily="34" charset="-120"/>
              </a:rPr>
              <a:t>Suppression volontaire</a:t>
            </a:r>
            <a:endParaRPr lang="en-US" sz="1750" dirty="0"/>
          </a:p>
        </p:txBody>
      </p:sp>
      <p:sp>
        <p:nvSpPr>
          <p:cNvPr id="22" name="Text 18"/>
          <p:cNvSpPr/>
          <p:nvPr/>
        </p:nvSpPr>
        <p:spPr>
          <a:xfrm>
            <a:off x="7227689" y="5409367"/>
            <a:ext cx="6769537" cy="289560"/>
          </a:xfrm>
          <a:prstGeom prst="rect">
            <a:avLst/>
          </a:prstGeom>
          <a:noFill/>
          <a:ln/>
        </p:spPr>
        <p:txBody>
          <a:bodyPr wrap="none" lIns="0" tIns="0" rIns="0" bIns="0" rtlCol="0" anchor="t"/>
          <a:lstStyle/>
          <a:p>
            <a:pPr algn="l" indent="0" marL="0">
              <a:lnSpc>
                <a:spcPts val="2250"/>
              </a:lnSpc>
              <a:buNone/>
            </a:pPr>
            <a:r>
              <a:rPr lang="en-US" sz="1400" dirty="0">
                <a:solidFill>
                  <a:srgbClr val="E5DCE6"/>
                </a:solidFill>
                <a:latin typeface="Montserrat" pitchFamily="34" charset="0"/>
                <a:ea typeface="Montserrat" pitchFamily="34" charset="-122"/>
                <a:cs typeface="Montserrat" pitchFamily="34" charset="-120"/>
              </a:rPr>
              <a:t>Suppression de la table facture via l'interface</a:t>
            </a:r>
            <a:endParaRPr lang="en-US" sz="1400" dirty="0"/>
          </a:p>
        </p:txBody>
      </p:sp>
      <p:sp>
        <p:nvSpPr>
          <p:cNvPr id="23" name="Shape 19"/>
          <p:cNvSpPr/>
          <p:nvPr/>
        </p:nvSpPr>
        <p:spPr>
          <a:xfrm>
            <a:off x="6503730" y="6252805"/>
            <a:ext cx="542687" cy="22860"/>
          </a:xfrm>
          <a:prstGeom prst="roundRect">
            <a:avLst>
              <a:gd name="adj" fmla="val 332410"/>
            </a:avLst>
          </a:prstGeom>
          <a:solidFill>
            <a:srgbClr val="414677"/>
          </a:solidFill>
          <a:ln/>
        </p:spPr>
      </p:sp>
      <p:sp>
        <p:nvSpPr>
          <p:cNvPr id="24" name="Shape 20"/>
          <p:cNvSpPr/>
          <p:nvPr/>
        </p:nvSpPr>
        <p:spPr>
          <a:xfrm>
            <a:off x="6119515" y="6060758"/>
            <a:ext cx="407075" cy="407075"/>
          </a:xfrm>
          <a:prstGeom prst="roundRect">
            <a:avLst>
              <a:gd name="adj" fmla="val 18667"/>
            </a:avLst>
          </a:prstGeom>
          <a:solidFill>
            <a:srgbClr val="282D5E"/>
          </a:solidFill>
          <a:ln/>
        </p:spPr>
      </p:sp>
      <p:sp>
        <p:nvSpPr>
          <p:cNvPr id="25" name="Text 21"/>
          <p:cNvSpPr/>
          <p:nvPr/>
        </p:nvSpPr>
        <p:spPr>
          <a:xfrm>
            <a:off x="6187321" y="6094631"/>
            <a:ext cx="271343" cy="339209"/>
          </a:xfrm>
          <a:prstGeom prst="rect">
            <a:avLst/>
          </a:prstGeom>
          <a:noFill/>
          <a:ln/>
        </p:spPr>
        <p:txBody>
          <a:bodyPr wrap="none" lIns="0" tIns="0" rIns="0" bIns="0" rtlCol="0" anchor="t"/>
          <a:lstStyle/>
          <a:p>
            <a:pPr algn="ctr" indent="0" marL="0">
              <a:lnSpc>
                <a:spcPts val="2100"/>
              </a:lnSpc>
              <a:buNone/>
            </a:pPr>
            <a:r>
              <a:rPr lang="en-US" sz="2100" b="1" dirty="0">
                <a:solidFill>
                  <a:srgbClr val="E5DCE6"/>
                </a:solidFill>
                <a:latin typeface="Bricolage Grotesque Extra Bold" pitchFamily="34" charset="0"/>
                <a:ea typeface="Bricolage Grotesque Extra Bold" pitchFamily="34" charset="-122"/>
                <a:cs typeface="Bricolage Grotesque Extra Bold" pitchFamily="34" charset="-120"/>
              </a:rPr>
              <a:t>4</a:t>
            </a:r>
            <a:endParaRPr lang="en-US" sz="2100" dirty="0"/>
          </a:p>
        </p:txBody>
      </p:sp>
      <p:sp>
        <p:nvSpPr>
          <p:cNvPr id="26" name="Text 22"/>
          <p:cNvSpPr/>
          <p:nvPr/>
        </p:nvSpPr>
        <p:spPr>
          <a:xfrm>
            <a:off x="7227689" y="6122908"/>
            <a:ext cx="2261473" cy="282535"/>
          </a:xfrm>
          <a:prstGeom prst="rect">
            <a:avLst/>
          </a:prstGeom>
          <a:noFill/>
          <a:ln/>
        </p:spPr>
        <p:txBody>
          <a:bodyPr wrap="none" lIns="0" tIns="0" rIns="0" bIns="0" rtlCol="0" anchor="t"/>
          <a:lstStyle/>
          <a:p>
            <a:pPr algn="l" indent="0" marL="0">
              <a:lnSpc>
                <a:spcPts val="2200"/>
              </a:lnSpc>
              <a:buNone/>
            </a:pPr>
            <a:r>
              <a:rPr lang="en-US" sz="1750" b="1" dirty="0">
                <a:solidFill>
                  <a:srgbClr val="E5DCE6"/>
                </a:solidFill>
                <a:latin typeface="Bricolage Grotesque Extra Bold" pitchFamily="34" charset="0"/>
                <a:ea typeface="Bricolage Grotesque Extra Bold" pitchFamily="34" charset="-122"/>
                <a:cs typeface="Bricolage Grotesque Extra Bold" pitchFamily="34" charset="-120"/>
              </a:rPr>
              <a:t>Restauration</a:t>
            </a:r>
            <a:endParaRPr lang="en-US" sz="1750" dirty="0"/>
          </a:p>
        </p:txBody>
      </p:sp>
      <p:sp>
        <p:nvSpPr>
          <p:cNvPr id="27" name="Text 23"/>
          <p:cNvSpPr/>
          <p:nvPr/>
        </p:nvSpPr>
        <p:spPr>
          <a:xfrm>
            <a:off x="7227689" y="6513909"/>
            <a:ext cx="6769537" cy="579120"/>
          </a:xfrm>
          <a:prstGeom prst="rect">
            <a:avLst/>
          </a:prstGeom>
          <a:noFill/>
          <a:ln/>
        </p:spPr>
        <p:txBody>
          <a:bodyPr wrap="square" lIns="0" tIns="0" rIns="0" bIns="0" rtlCol="0" anchor="t"/>
          <a:lstStyle/>
          <a:p>
            <a:pPr algn="l" indent="0" marL="0">
              <a:lnSpc>
                <a:spcPts val="2250"/>
              </a:lnSpc>
              <a:buNone/>
            </a:pPr>
            <a:r>
              <a:rPr lang="en-US" sz="1400" dirty="0">
                <a:solidFill>
                  <a:srgbClr val="E5DCE6"/>
                </a:solidFill>
                <a:latin typeface="Montserrat" pitchFamily="34" charset="0"/>
                <a:ea typeface="Montserrat" pitchFamily="34" charset="-122"/>
                <a:cs typeface="Montserrat" pitchFamily="34" charset="-120"/>
              </a:rPr>
              <a:t>C:\xampp\mysql\bin&gt;mysql -u root -p gestionstock &lt; C:\backup_gestionstock.sql (restauration)</a:t>
            </a:r>
            <a:endParaRPr lang="en-US" sz="1400" dirty="0"/>
          </a:p>
        </p:txBody>
      </p:sp>
      <p:sp>
        <p:nvSpPr>
          <p:cNvPr id="28" name="Text 24"/>
          <p:cNvSpPr/>
          <p:nvPr/>
        </p:nvSpPr>
        <p:spPr>
          <a:xfrm>
            <a:off x="6119574" y="7296507"/>
            <a:ext cx="7877651" cy="289560"/>
          </a:xfrm>
          <a:prstGeom prst="rect">
            <a:avLst/>
          </a:prstGeom>
          <a:noFill/>
          <a:ln/>
        </p:spPr>
        <p:txBody>
          <a:bodyPr wrap="none" lIns="0" tIns="0" rIns="0" bIns="0" rtlCol="0" anchor="t"/>
          <a:lstStyle/>
          <a:p>
            <a:pPr algn="r" indent="0" marL="0">
              <a:lnSpc>
                <a:spcPts val="2250"/>
              </a:lnSpc>
              <a:buNone/>
            </a:pPr>
            <a:r>
              <a:rPr lang="en-US" sz="1400" dirty="0">
                <a:solidFill>
                  <a:srgbClr val="E5DCE6"/>
                </a:solidFill>
                <a:latin typeface="Montserrat" pitchFamily="34" charset="0"/>
                <a:ea typeface="Montserrat" pitchFamily="34" charset="-122"/>
                <a:cs typeface="Montserrat" pitchFamily="34" charset="-120"/>
              </a:rPr>
              <a:t>Page 10</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3728442" y="311825"/>
            <a:ext cx="4997291" cy="354330"/>
          </a:xfrm>
          <a:prstGeom prst="rect">
            <a:avLst/>
          </a:prstGeom>
          <a:noFill/>
          <a:ln/>
        </p:spPr>
        <p:txBody>
          <a:bodyPr wrap="none" lIns="0" tIns="0" rIns="0" bIns="0" rtlCol="0" anchor="t"/>
          <a:lstStyle/>
          <a:p>
            <a:pPr algn="l" indent="0" marL="0">
              <a:lnSpc>
                <a:spcPts val="2750"/>
              </a:lnSpc>
              <a:buNone/>
            </a:pPr>
            <a:r>
              <a:rPr lang="en-US" sz="2200" b="1" dirty="0">
                <a:solidFill>
                  <a:srgbClr val="EEAEF6"/>
                </a:solidFill>
                <a:latin typeface="Bricolage Grotesque Extra Bold" pitchFamily="34" charset="0"/>
                <a:ea typeface="Bricolage Grotesque Extra Bold" pitchFamily="34" charset="-122"/>
                <a:cs typeface="Bricolage Grotesque Extra Bold" pitchFamily="34" charset="-120"/>
              </a:rPr>
              <a:t>Stratégie de défense en profondeur</a:t>
            </a:r>
            <a:endParaRPr lang="en-US" sz="2200" dirty="0"/>
          </a:p>
        </p:txBody>
      </p:sp>
      <p:pic>
        <p:nvPicPr>
          <p:cNvPr id="3" name="Image 0" descr="preencoded.png">    </p:cNvPr>
          <p:cNvPicPr>
            <a:picLocks noChangeAspect="1"/>
          </p:cNvPicPr>
          <p:nvPr/>
        </p:nvPicPr>
        <p:blipFill>
          <a:blip r:embed="rId1"/>
          <a:stretch>
            <a:fillRect/>
          </a:stretch>
        </p:blipFill>
        <p:spPr>
          <a:xfrm>
            <a:off x="4929902" y="892969"/>
            <a:ext cx="1183600" cy="839033"/>
          </a:xfrm>
          <a:prstGeom prst="rect">
            <a:avLst/>
          </a:prstGeom>
        </p:spPr>
      </p:pic>
      <p:sp>
        <p:nvSpPr>
          <p:cNvPr id="4" name="Text 1"/>
          <p:cNvSpPr/>
          <p:nvPr/>
        </p:nvSpPr>
        <p:spPr>
          <a:xfrm>
            <a:off x="5441871" y="1321594"/>
            <a:ext cx="159425" cy="199311"/>
          </a:xfrm>
          <a:prstGeom prst="rect">
            <a:avLst/>
          </a:prstGeom>
          <a:noFill/>
          <a:ln/>
        </p:spPr>
        <p:txBody>
          <a:bodyPr wrap="none" lIns="0" tIns="0" rIns="0" bIns="0" rtlCol="0" anchor="t"/>
          <a:lstStyle/>
          <a:p>
            <a:pPr algn="ctr" indent="0" marL="0">
              <a:lnSpc>
                <a:spcPts val="2000"/>
              </a:lnSpc>
              <a:buNone/>
            </a:pPr>
            <a:r>
              <a:rPr lang="en-US" sz="1250" b="1" dirty="0">
                <a:solidFill>
                  <a:srgbClr val="E5DCE6"/>
                </a:solidFill>
                <a:latin typeface="Bricolage Grotesque Extra Bold" pitchFamily="34" charset="0"/>
                <a:ea typeface="Bricolage Grotesque Extra Bold" pitchFamily="34" charset="-122"/>
                <a:cs typeface="Bricolage Grotesque Extra Bold" pitchFamily="34" charset="-120"/>
              </a:rPr>
              <a:t>1</a:t>
            </a:r>
            <a:endParaRPr lang="en-US" sz="1250" dirty="0"/>
          </a:p>
        </p:txBody>
      </p:sp>
      <p:sp>
        <p:nvSpPr>
          <p:cNvPr id="5" name="Text 2"/>
          <p:cNvSpPr/>
          <p:nvPr/>
        </p:nvSpPr>
        <p:spPr>
          <a:xfrm>
            <a:off x="6226850" y="1097042"/>
            <a:ext cx="4516398" cy="181451"/>
          </a:xfrm>
          <a:prstGeom prst="rect">
            <a:avLst/>
          </a:prstGeom>
          <a:noFill/>
          <a:ln/>
        </p:spPr>
        <p:txBody>
          <a:bodyPr wrap="none" lIns="0" tIns="0" rIns="0" bIns="0" rtlCol="0" anchor="t"/>
          <a:lstStyle/>
          <a:p>
            <a:pPr algn="l" indent="0" marL="0">
              <a:lnSpc>
                <a:spcPts val="1400"/>
              </a:lnSpc>
              <a:buNone/>
            </a:pPr>
            <a:r>
              <a:rPr lang="en-US" sz="850" b="1" dirty="0">
                <a:solidFill>
                  <a:srgbClr val="E5DCE6"/>
                </a:solidFill>
                <a:latin typeface="Montserrat" pitchFamily="34" charset="0"/>
                <a:ea typeface="Montserrat" pitchFamily="34" charset="-122"/>
                <a:cs typeface="Montserrat" pitchFamily="34" charset="-120"/>
              </a:rPr>
              <a:t>Couche 3: Restriction IP</a:t>
            </a:r>
            <a:endParaRPr lang="en-US" sz="850" dirty="0"/>
          </a:p>
        </p:txBody>
      </p:sp>
      <p:sp>
        <p:nvSpPr>
          <p:cNvPr id="6" name="Text 3"/>
          <p:cNvSpPr/>
          <p:nvPr/>
        </p:nvSpPr>
        <p:spPr>
          <a:xfrm>
            <a:off x="6226850" y="1346478"/>
            <a:ext cx="4516398" cy="181451"/>
          </a:xfrm>
          <a:prstGeom prst="rect">
            <a:avLst/>
          </a:prstGeom>
          <a:noFill/>
          <a:ln/>
        </p:spPr>
        <p:txBody>
          <a:bodyPr wrap="none" lIns="0" tIns="0" rIns="0" bIns="0" rtlCol="0" anchor="t"/>
          <a:lstStyle/>
          <a:p>
            <a:pPr algn="l" indent="0" marL="0">
              <a:lnSpc>
                <a:spcPts val="1400"/>
              </a:lnSpc>
              <a:buNone/>
            </a:pPr>
            <a:r>
              <a:rPr lang="en-US" sz="850" dirty="0">
                <a:solidFill>
                  <a:srgbClr val="E5DCE6"/>
                </a:solidFill>
                <a:latin typeface="Montserrat" pitchFamily="34" charset="0"/>
                <a:ea typeface="Montserrat" pitchFamily="34" charset="-122"/>
                <a:cs typeface="Montserrat" pitchFamily="34" charset="-120"/>
              </a:rPr>
              <a:t>Le géorepérage empêche l'accès non autorisé même avec des identifiants volés</a:t>
            </a:r>
            <a:endParaRPr lang="en-US" sz="850" dirty="0"/>
          </a:p>
        </p:txBody>
      </p:sp>
      <p:sp>
        <p:nvSpPr>
          <p:cNvPr id="7" name="Shape 4"/>
          <p:cNvSpPr/>
          <p:nvPr/>
        </p:nvSpPr>
        <p:spPr>
          <a:xfrm>
            <a:off x="6141839" y="1742361"/>
            <a:ext cx="4731663" cy="7620"/>
          </a:xfrm>
          <a:prstGeom prst="roundRect">
            <a:avLst>
              <a:gd name="adj" fmla="val 625116"/>
            </a:avLst>
          </a:prstGeom>
          <a:solidFill>
            <a:srgbClr val="414677"/>
          </a:solidFill>
          <a:ln/>
        </p:spPr>
      </p:sp>
      <p:pic>
        <p:nvPicPr>
          <p:cNvPr id="8" name="Image 1" descr="preencoded.png">    </p:cNvPr>
          <p:cNvPicPr>
            <a:picLocks noChangeAspect="1"/>
          </p:cNvPicPr>
          <p:nvPr/>
        </p:nvPicPr>
        <p:blipFill>
          <a:blip r:embed="rId2"/>
          <a:stretch>
            <a:fillRect/>
          </a:stretch>
        </p:blipFill>
        <p:spPr>
          <a:xfrm>
            <a:off x="4338161" y="1760339"/>
            <a:ext cx="2367201" cy="839033"/>
          </a:xfrm>
          <a:prstGeom prst="rect">
            <a:avLst/>
          </a:prstGeom>
        </p:spPr>
      </p:pic>
      <p:sp>
        <p:nvSpPr>
          <p:cNvPr id="9" name="Text 5"/>
          <p:cNvSpPr/>
          <p:nvPr/>
        </p:nvSpPr>
        <p:spPr>
          <a:xfrm>
            <a:off x="5441990" y="2080141"/>
            <a:ext cx="159425" cy="199311"/>
          </a:xfrm>
          <a:prstGeom prst="rect">
            <a:avLst/>
          </a:prstGeom>
          <a:noFill/>
          <a:ln/>
        </p:spPr>
        <p:txBody>
          <a:bodyPr wrap="none" lIns="0" tIns="0" rIns="0" bIns="0" rtlCol="0" anchor="t"/>
          <a:lstStyle/>
          <a:p>
            <a:pPr algn="ctr" indent="0" marL="0">
              <a:lnSpc>
                <a:spcPts val="2000"/>
              </a:lnSpc>
              <a:buNone/>
            </a:pPr>
            <a:r>
              <a:rPr lang="en-US" sz="1250" b="1" dirty="0">
                <a:solidFill>
                  <a:srgbClr val="E5DCE6"/>
                </a:solidFill>
                <a:latin typeface="Bricolage Grotesque Extra Bold" pitchFamily="34" charset="0"/>
                <a:ea typeface="Bricolage Grotesque Extra Bold" pitchFamily="34" charset="-122"/>
                <a:cs typeface="Bricolage Grotesque Extra Bold" pitchFamily="34" charset="-120"/>
              </a:rPr>
              <a:t>2</a:t>
            </a:r>
            <a:endParaRPr lang="en-US" sz="1250" dirty="0"/>
          </a:p>
        </p:txBody>
      </p:sp>
      <p:sp>
        <p:nvSpPr>
          <p:cNvPr id="10" name="Text 6"/>
          <p:cNvSpPr/>
          <p:nvPr/>
        </p:nvSpPr>
        <p:spPr>
          <a:xfrm>
            <a:off x="6818709" y="1873687"/>
            <a:ext cx="3969782" cy="181451"/>
          </a:xfrm>
          <a:prstGeom prst="rect">
            <a:avLst/>
          </a:prstGeom>
          <a:noFill/>
          <a:ln/>
        </p:spPr>
        <p:txBody>
          <a:bodyPr wrap="none" lIns="0" tIns="0" rIns="0" bIns="0" rtlCol="0" anchor="t"/>
          <a:lstStyle/>
          <a:p>
            <a:pPr algn="l" indent="0" marL="0">
              <a:lnSpc>
                <a:spcPts val="1400"/>
              </a:lnSpc>
              <a:buNone/>
            </a:pPr>
            <a:r>
              <a:rPr lang="en-US" sz="850" b="1" dirty="0">
                <a:solidFill>
                  <a:srgbClr val="E5DCE6"/>
                </a:solidFill>
                <a:latin typeface="Montserrat" pitchFamily="34" charset="0"/>
                <a:ea typeface="Montserrat" pitchFamily="34" charset="-122"/>
                <a:cs typeface="Montserrat" pitchFamily="34" charset="-120"/>
              </a:rPr>
              <a:t>Couche 2: Privilèges limités</a:t>
            </a:r>
            <a:endParaRPr lang="en-US" sz="850" dirty="0"/>
          </a:p>
        </p:txBody>
      </p:sp>
      <p:sp>
        <p:nvSpPr>
          <p:cNvPr id="11" name="Text 7"/>
          <p:cNvSpPr/>
          <p:nvPr/>
        </p:nvSpPr>
        <p:spPr>
          <a:xfrm>
            <a:off x="6818709" y="2123122"/>
            <a:ext cx="3969782" cy="362903"/>
          </a:xfrm>
          <a:prstGeom prst="rect">
            <a:avLst/>
          </a:prstGeom>
          <a:noFill/>
          <a:ln/>
        </p:spPr>
        <p:txBody>
          <a:bodyPr wrap="square" lIns="0" tIns="0" rIns="0" bIns="0" rtlCol="0" anchor="t"/>
          <a:lstStyle/>
          <a:p>
            <a:pPr algn="l" indent="0" marL="0">
              <a:lnSpc>
                <a:spcPts val="1400"/>
              </a:lnSpc>
              <a:buNone/>
            </a:pPr>
            <a:r>
              <a:rPr lang="en-US" sz="850" dirty="0">
                <a:solidFill>
                  <a:srgbClr val="E5DCE6"/>
                </a:solidFill>
                <a:latin typeface="Montserrat" pitchFamily="34" charset="0"/>
                <a:ea typeface="Montserrat" pitchFamily="34" charset="-122"/>
                <a:cs typeface="Montserrat" pitchFamily="34" charset="-120"/>
              </a:rPr>
              <a:t>Les permissions restreintes limitent les dommages causés par des comptes compromis</a:t>
            </a:r>
            <a:endParaRPr lang="en-US" sz="850" dirty="0"/>
          </a:p>
        </p:txBody>
      </p:sp>
      <p:sp>
        <p:nvSpPr>
          <p:cNvPr id="12" name="Shape 8"/>
          <p:cNvSpPr/>
          <p:nvPr/>
        </p:nvSpPr>
        <p:spPr>
          <a:xfrm>
            <a:off x="6733699" y="2609731"/>
            <a:ext cx="4139803" cy="7620"/>
          </a:xfrm>
          <a:prstGeom prst="roundRect">
            <a:avLst>
              <a:gd name="adj" fmla="val 625116"/>
            </a:avLst>
          </a:prstGeom>
          <a:solidFill>
            <a:srgbClr val="414677"/>
          </a:solidFill>
          <a:ln/>
        </p:spPr>
      </p:sp>
      <p:pic>
        <p:nvPicPr>
          <p:cNvPr id="13" name="Image 2" descr="preencoded.png">    </p:cNvPr>
          <p:cNvPicPr>
            <a:picLocks noChangeAspect="1"/>
          </p:cNvPicPr>
          <p:nvPr/>
        </p:nvPicPr>
        <p:blipFill>
          <a:blip r:embed="rId3"/>
          <a:stretch>
            <a:fillRect/>
          </a:stretch>
        </p:blipFill>
        <p:spPr>
          <a:xfrm>
            <a:off x="3746302" y="2627709"/>
            <a:ext cx="3550801" cy="839033"/>
          </a:xfrm>
          <a:prstGeom prst="rect">
            <a:avLst/>
          </a:prstGeom>
        </p:spPr>
      </p:pic>
      <p:sp>
        <p:nvSpPr>
          <p:cNvPr id="14" name="Text 9"/>
          <p:cNvSpPr/>
          <p:nvPr/>
        </p:nvSpPr>
        <p:spPr>
          <a:xfrm>
            <a:off x="5441871" y="2947511"/>
            <a:ext cx="159425" cy="199311"/>
          </a:xfrm>
          <a:prstGeom prst="rect">
            <a:avLst/>
          </a:prstGeom>
          <a:noFill/>
          <a:ln/>
        </p:spPr>
        <p:txBody>
          <a:bodyPr wrap="none" lIns="0" tIns="0" rIns="0" bIns="0" rtlCol="0" anchor="t"/>
          <a:lstStyle/>
          <a:p>
            <a:pPr algn="ctr" indent="0" marL="0">
              <a:lnSpc>
                <a:spcPts val="2000"/>
              </a:lnSpc>
              <a:buNone/>
            </a:pPr>
            <a:r>
              <a:rPr lang="en-US" sz="1250" b="1" dirty="0">
                <a:solidFill>
                  <a:srgbClr val="E5DCE6"/>
                </a:solidFill>
                <a:latin typeface="Bricolage Grotesque Extra Bold" pitchFamily="34" charset="0"/>
                <a:ea typeface="Bricolage Grotesque Extra Bold" pitchFamily="34" charset="-122"/>
                <a:cs typeface="Bricolage Grotesque Extra Bold" pitchFamily="34" charset="-120"/>
              </a:rPr>
              <a:t>3</a:t>
            </a:r>
            <a:endParaRPr lang="en-US" sz="1250" dirty="0"/>
          </a:p>
        </p:txBody>
      </p:sp>
      <p:sp>
        <p:nvSpPr>
          <p:cNvPr id="15" name="Text 10"/>
          <p:cNvSpPr/>
          <p:nvPr/>
        </p:nvSpPr>
        <p:spPr>
          <a:xfrm>
            <a:off x="7410450" y="2741057"/>
            <a:ext cx="3378041" cy="181451"/>
          </a:xfrm>
          <a:prstGeom prst="rect">
            <a:avLst/>
          </a:prstGeom>
          <a:noFill/>
          <a:ln/>
        </p:spPr>
        <p:txBody>
          <a:bodyPr wrap="none" lIns="0" tIns="0" rIns="0" bIns="0" rtlCol="0" anchor="t"/>
          <a:lstStyle/>
          <a:p>
            <a:pPr algn="l" indent="0" marL="0">
              <a:lnSpc>
                <a:spcPts val="1400"/>
              </a:lnSpc>
              <a:buNone/>
            </a:pPr>
            <a:r>
              <a:rPr lang="en-US" sz="850" b="1" dirty="0">
                <a:solidFill>
                  <a:srgbClr val="E5DCE6"/>
                </a:solidFill>
                <a:latin typeface="Montserrat" pitchFamily="34" charset="0"/>
                <a:ea typeface="Montserrat" pitchFamily="34" charset="-122"/>
                <a:cs typeface="Montserrat" pitchFamily="34" charset="-120"/>
              </a:rPr>
              <a:t>Couche 1: Pas d'accès root</a:t>
            </a:r>
            <a:endParaRPr lang="en-US" sz="850" dirty="0"/>
          </a:p>
        </p:txBody>
      </p:sp>
      <p:sp>
        <p:nvSpPr>
          <p:cNvPr id="16" name="Text 11"/>
          <p:cNvSpPr/>
          <p:nvPr/>
        </p:nvSpPr>
        <p:spPr>
          <a:xfrm>
            <a:off x="7410450" y="2990493"/>
            <a:ext cx="3378041" cy="362903"/>
          </a:xfrm>
          <a:prstGeom prst="rect">
            <a:avLst/>
          </a:prstGeom>
          <a:noFill/>
          <a:ln/>
        </p:spPr>
        <p:txBody>
          <a:bodyPr wrap="square" lIns="0" tIns="0" rIns="0" bIns="0" rtlCol="0" anchor="t"/>
          <a:lstStyle/>
          <a:p>
            <a:pPr algn="l" indent="0" marL="0">
              <a:lnSpc>
                <a:spcPts val="1400"/>
              </a:lnSpc>
              <a:buNone/>
            </a:pPr>
            <a:r>
              <a:rPr lang="en-US" sz="850" dirty="0">
                <a:solidFill>
                  <a:srgbClr val="E5DCE6"/>
                </a:solidFill>
                <a:latin typeface="Montserrat" pitchFamily="34" charset="0"/>
                <a:ea typeface="Montserrat" pitchFamily="34" charset="-122"/>
                <a:cs typeface="Montserrat" pitchFamily="34" charset="-120"/>
              </a:rPr>
              <a:t>Les utilisateurs d'applications dédiées empêchent le compromis total du système</a:t>
            </a:r>
            <a:endParaRPr lang="en-US" sz="850" dirty="0"/>
          </a:p>
        </p:txBody>
      </p:sp>
      <p:sp>
        <p:nvSpPr>
          <p:cNvPr id="17" name="Text 12"/>
          <p:cNvSpPr/>
          <p:nvPr/>
        </p:nvSpPr>
        <p:spPr>
          <a:xfrm>
            <a:off x="3728442" y="3707606"/>
            <a:ext cx="1835229" cy="212646"/>
          </a:xfrm>
          <a:prstGeom prst="rect">
            <a:avLst/>
          </a:prstGeom>
          <a:noFill/>
          <a:ln/>
        </p:spPr>
        <p:txBody>
          <a:bodyPr wrap="none" lIns="0" tIns="0" rIns="0" bIns="0" rtlCol="0" anchor="t"/>
          <a:lstStyle/>
          <a:p>
            <a:pPr algn="l" indent="0" marL="0">
              <a:lnSpc>
                <a:spcPts val="1650"/>
              </a:lnSpc>
              <a:buNone/>
            </a:pPr>
            <a:r>
              <a:rPr lang="en-US" sz="1300" b="1" dirty="0">
                <a:solidFill>
                  <a:srgbClr val="EEAEF6"/>
                </a:solidFill>
                <a:latin typeface="Bricolage Grotesque Extra Bold" pitchFamily="34" charset="0"/>
                <a:ea typeface="Bricolage Grotesque Extra Bold" pitchFamily="34" charset="-122"/>
                <a:cs typeface="Bricolage Grotesque Extra Bold" pitchFamily="34" charset="-120"/>
              </a:rPr>
              <a:t>Réalisations du projet</a:t>
            </a:r>
            <a:endParaRPr lang="en-US" sz="1300" dirty="0"/>
          </a:p>
        </p:txBody>
      </p:sp>
      <p:sp>
        <p:nvSpPr>
          <p:cNvPr id="18" name="Text 13"/>
          <p:cNvSpPr/>
          <p:nvPr/>
        </p:nvSpPr>
        <p:spPr>
          <a:xfrm>
            <a:off x="3728442" y="4033599"/>
            <a:ext cx="3448288" cy="362903"/>
          </a:xfrm>
          <a:prstGeom prst="rect">
            <a:avLst/>
          </a:prstGeom>
          <a:noFill/>
          <a:ln/>
        </p:spPr>
        <p:txBody>
          <a:bodyPr wrap="square" lIns="0" tIns="0" rIns="0" bIns="0" rtlCol="0" anchor="t"/>
          <a:lstStyle/>
          <a:p>
            <a:pPr algn="l" marL="342900" indent="-342900">
              <a:lnSpc>
                <a:spcPts val="1400"/>
              </a:lnSpc>
              <a:buSzPct val="100000"/>
              <a:buChar char="•"/>
            </a:pPr>
            <a:r>
              <a:rPr lang="en-US" sz="850" dirty="0">
                <a:solidFill>
                  <a:srgbClr val="000000"/>
                </a:solidFill>
                <a:latin typeface="Montserrat" pitchFamily="34" charset="0"/>
                <a:ea typeface="Montserrat" pitchFamily="34" charset="-122"/>
                <a:cs typeface="Montserrat" pitchFamily="34" charset="-120"/>
              </a:rPr>
              <a:t>✅</a:t>
            </a:r>
            <a:pPr algn="l" indent="0" marL="0">
              <a:lnSpc>
                <a:spcPts val="1400"/>
              </a:lnSpc>
              <a:buNone/>
            </a:pPr>
            <a:r>
              <a:rPr lang="en-US" sz="850" dirty="0">
                <a:solidFill>
                  <a:srgbClr val="E5DCE6"/>
                </a:solidFill>
                <a:latin typeface="Montserrat" pitchFamily="34" charset="0"/>
                <a:ea typeface="Montserrat" pitchFamily="34" charset="-122"/>
                <a:cs typeface="Montserrat" pitchFamily="34" charset="-120"/>
              </a:rPr>
              <a:t> Base de données encodée UTF8MB4 avec 4 tables normalisées</a:t>
            </a:r>
            <a:endParaRPr lang="en-US" sz="850" dirty="0"/>
          </a:p>
        </p:txBody>
      </p:sp>
      <p:sp>
        <p:nvSpPr>
          <p:cNvPr id="19" name="Text 14"/>
          <p:cNvSpPr/>
          <p:nvPr/>
        </p:nvSpPr>
        <p:spPr>
          <a:xfrm>
            <a:off x="3728442" y="4436150"/>
            <a:ext cx="3448288" cy="362903"/>
          </a:xfrm>
          <a:prstGeom prst="rect">
            <a:avLst/>
          </a:prstGeom>
          <a:noFill/>
          <a:ln/>
        </p:spPr>
        <p:txBody>
          <a:bodyPr wrap="square" lIns="0" tIns="0" rIns="0" bIns="0" rtlCol="0" anchor="t"/>
          <a:lstStyle/>
          <a:p>
            <a:pPr algn="l" marL="342900" indent="-342900">
              <a:lnSpc>
                <a:spcPts val="1400"/>
              </a:lnSpc>
              <a:buSzPct val="100000"/>
              <a:buChar char="•"/>
            </a:pPr>
            <a:r>
              <a:rPr lang="en-US" sz="850" dirty="0">
                <a:solidFill>
                  <a:srgbClr val="000000"/>
                </a:solidFill>
                <a:latin typeface="Montserrat" pitchFamily="34" charset="0"/>
                <a:ea typeface="Montserrat" pitchFamily="34" charset="-122"/>
                <a:cs typeface="Montserrat" pitchFamily="34" charset="-120"/>
              </a:rPr>
              <a:t>✅</a:t>
            </a:r>
            <a:pPr algn="l" indent="0" marL="0">
              <a:lnSpc>
                <a:spcPts val="1400"/>
              </a:lnSpc>
              <a:buNone/>
            </a:pPr>
            <a:r>
              <a:rPr lang="en-US" sz="850" dirty="0">
                <a:solidFill>
                  <a:srgbClr val="E5DCE6"/>
                </a:solidFill>
                <a:latin typeface="Montserrat" pitchFamily="34" charset="0"/>
                <a:ea typeface="Montserrat" pitchFamily="34" charset="-122"/>
                <a:cs typeface="Montserrat" pitchFamily="34" charset="-120"/>
              </a:rPr>
              <a:t> 30 enregistrements sur toutes les entités avec intégrité référentielle</a:t>
            </a:r>
            <a:endParaRPr lang="en-US" sz="850" dirty="0"/>
          </a:p>
        </p:txBody>
      </p:sp>
      <p:sp>
        <p:nvSpPr>
          <p:cNvPr id="20" name="Text 15"/>
          <p:cNvSpPr/>
          <p:nvPr/>
        </p:nvSpPr>
        <p:spPr>
          <a:xfrm>
            <a:off x="3728442" y="4838700"/>
            <a:ext cx="3448288" cy="362903"/>
          </a:xfrm>
          <a:prstGeom prst="rect">
            <a:avLst/>
          </a:prstGeom>
          <a:noFill/>
          <a:ln/>
        </p:spPr>
        <p:txBody>
          <a:bodyPr wrap="square" lIns="0" tIns="0" rIns="0" bIns="0" rtlCol="0" anchor="t"/>
          <a:lstStyle/>
          <a:p>
            <a:pPr algn="l" marL="342900" indent="-342900">
              <a:lnSpc>
                <a:spcPts val="1400"/>
              </a:lnSpc>
              <a:buSzPct val="100000"/>
              <a:buChar char="•"/>
            </a:pPr>
            <a:r>
              <a:rPr lang="en-US" sz="850" dirty="0">
                <a:solidFill>
                  <a:srgbClr val="000000"/>
                </a:solidFill>
                <a:latin typeface="Montserrat" pitchFamily="34" charset="0"/>
                <a:ea typeface="Montserrat" pitchFamily="34" charset="-122"/>
                <a:cs typeface="Montserrat" pitchFamily="34" charset="-120"/>
              </a:rPr>
              <a:t>✅</a:t>
            </a:r>
            <a:pPr algn="l" indent="0" marL="0">
              <a:lnSpc>
                <a:spcPts val="1400"/>
              </a:lnSpc>
              <a:buNone/>
            </a:pPr>
            <a:r>
              <a:rPr lang="en-US" sz="850" dirty="0">
                <a:solidFill>
                  <a:srgbClr val="E5DCE6"/>
                </a:solidFill>
                <a:latin typeface="Montserrat" pitchFamily="34" charset="0"/>
                <a:ea typeface="Montserrat" pitchFamily="34" charset="-122"/>
                <a:cs typeface="Montserrat" pitchFamily="34" charset="-120"/>
              </a:rPr>
              <a:t> 4 requêtes de business intelligence pour des analyses opérationnelles</a:t>
            </a:r>
            <a:endParaRPr lang="en-US" sz="850" dirty="0"/>
          </a:p>
        </p:txBody>
      </p:sp>
      <p:sp>
        <p:nvSpPr>
          <p:cNvPr id="21" name="Text 16"/>
          <p:cNvSpPr/>
          <p:nvPr/>
        </p:nvSpPr>
        <p:spPr>
          <a:xfrm>
            <a:off x="3728442" y="5241250"/>
            <a:ext cx="3448288" cy="362903"/>
          </a:xfrm>
          <a:prstGeom prst="rect">
            <a:avLst/>
          </a:prstGeom>
          <a:noFill/>
          <a:ln/>
        </p:spPr>
        <p:txBody>
          <a:bodyPr wrap="square" lIns="0" tIns="0" rIns="0" bIns="0" rtlCol="0" anchor="t"/>
          <a:lstStyle/>
          <a:p>
            <a:pPr algn="l" marL="342900" indent="-342900">
              <a:lnSpc>
                <a:spcPts val="1400"/>
              </a:lnSpc>
              <a:buSzPct val="100000"/>
              <a:buChar char="•"/>
            </a:pPr>
            <a:r>
              <a:rPr lang="en-US" sz="850" dirty="0">
                <a:solidFill>
                  <a:srgbClr val="000000"/>
                </a:solidFill>
                <a:latin typeface="Montserrat" pitchFamily="34" charset="0"/>
                <a:ea typeface="Montserrat" pitchFamily="34" charset="-122"/>
                <a:cs typeface="Montserrat" pitchFamily="34" charset="-120"/>
              </a:rPr>
              <a:t>✅</a:t>
            </a:r>
            <a:pPr algn="l" indent="0" marL="0">
              <a:lnSpc>
                <a:spcPts val="1400"/>
              </a:lnSpc>
              <a:buNone/>
            </a:pPr>
            <a:r>
              <a:rPr lang="en-US" sz="850" dirty="0">
                <a:solidFill>
                  <a:srgbClr val="E5DCE6"/>
                </a:solidFill>
                <a:latin typeface="Montserrat" pitchFamily="34" charset="0"/>
                <a:ea typeface="Montserrat" pitchFamily="34" charset="-122"/>
                <a:cs typeface="Montserrat" pitchFamily="34" charset="-120"/>
              </a:rPr>
              <a:t> Contrôle d'accès basé sur les rôles avec 3 utilisateurs spécialisés</a:t>
            </a:r>
            <a:endParaRPr lang="en-US" sz="850" dirty="0"/>
          </a:p>
        </p:txBody>
      </p:sp>
      <p:sp>
        <p:nvSpPr>
          <p:cNvPr id="22" name="Text 17"/>
          <p:cNvSpPr/>
          <p:nvPr/>
        </p:nvSpPr>
        <p:spPr>
          <a:xfrm>
            <a:off x="3728442" y="5643801"/>
            <a:ext cx="3448288" cy="362903"/>
          </a:xfrm>
          <a:prstGeom prst="rect">
            <a:avLst/>
          </a:prstGeom>
          <a:noFill/>
          <a:ln/>
        </p:spPr>
        <p:txBody>
          <a:bodyPr wrap="square" lIns="0" tIns="0" rIns="0" bIns="0" rtlCol="0" anchor="t"/>
          <a:lstStyle/>
          <a:p>
            <a:pPr algn="l" marL="342900" indent="-342900">
              <a:lnSpc>
                <a:spcPts val="1400"/>
              </a:lnSpc>
              <a:buSzPct val="100000"/>
              <a:buChar char="•"/>
            </a:pPr>
            <a:r>
              <a:rPr lang="en-US" sz="850" dirty="0">
                <a:solidFill>
                  <a:srgbClr val="000000"/>
                </a:solidFill>
                <a:latin typeface="Montserrat" pitchFamily="34" charset="0"/>
                <a:ea typeface="Montserrat" pitchFamily="34" charset="-122"/>
                <a:cs typeface="Montserrat" pitchFamily="34" charset="-120"/>
              </a:rPr>
              <a:t>✅</a:t>
            </a:r>
            <a:pPr algn="l" indent="0" marL="0">
              <a:lnSpc>
                <a:spcPts val="1400"/>
              </a:lnSpc>
              <a:buNone/>
            </a:pPr>
            <a:r>
              <a:rPr lang="en-US" sz="850" dirty="0">
                <a:solidFill>
                  <a:srgbClr val="E5DCE6"/>
                </a:solidFill>
                <a:latin typeface="Montserrat" pitchFamily="34" charset="0"/>
                <a:ea typeface="Montserrat" pitchFamily="34" charset="-122"/>
                <a:cs typeface="Montserrat" pitchFamily="34" charset="-120"/>
              </a:rPr>
              <a:t> Permissions validées et système de sauvegarde fonctionnel</a:t>
            </a:r>
            <a:endParaRPr lang="en-US" sz="850" dirty="0"/>
          </a:p>
        </p:txBody>
      </p:sp>
      <p:pic>
        <p:nvPicPr>
          <p:cNvPr id="23" name="Image 3" descr="preencoded.png">    </p:cNvPr>
          <p:cNvPicPr>
            <a:picLocks noChangeAspect="1"/>
          </p:cNvPicPr>
          <p:nvPr/>
        </p:nvPicPr>
        <p:blipFill>
          <a:blip r:embed="rId4"/>
          <a:stretch>
            <a:fillRect/>
          </a:stretch>
        </p:blipFill>
        <p:spPr>
          <a:xfrm>
            <a:off x="7461052" y="3721775"/>
            <a:ext cx="3448288" cy="3448288"/>
          </a:xfrm>
          <a:prstGeom prst="rect">
            <a:avLst/>
          </a:prstGeom>
        </p:spPr>
      </p:pic>
      <p:sp>
        <p:nvSpPr>
          <p:cNvPr id="24" name="Text 18"/>
          <p:cNvSpPr/>
          <p:nvPr/>
        </p:nvSpPr>
        <p:spPr>
          <a:xfrm>
            <a:off x="7461052" y="7297579"/>
            <a:ext cx="1417558" cy="177165"/>
          </a:xfrm>
          <a:prstGeom prst="rect">
            <a:avLst/>
          </a:prstGeom>
          <a:noFill/>
          <a:ln/>
        </p:spPr>
        <p:txBody>
          <a:bodyPr wrap="none" lIns="0" tIns="0" rIns="0" bIns="0" rtlCol="0" anchor="t"/>
          <a:lstStyle/>
          <a:p>
            <a:pPr algn="l" indent="0" marL="0">
              <a:lnSpc>
                <a:spcPts val="1350"/>
              </a:lnSpc>
              <a:buNone/>
            </a:pPr>
            <a:r>
              <a:rPr lang="en-US" sz="1100" b="1" dirty="0">
                <a:solidFill>
                  <a:srgbClr val="EEAEF6"/>
                </a:solidFill>
                <a:latin typeface="Bricolage Grotesque Extra Bold" pitchFamily="34" charset="0"/>
                <a:ea typeface="Bricolage Grotesque Extra Bold" pitchFamily="34" charset="-122"/>
                <a:cs typeface="Bricolage Grotesque Extra Bold" pitchFamily="34" charset="-120"/>
              </a:rPr>
              <a:t>Pile technologique</a:t>
            </a:r>
            <a:endParaRPr lang="en-US" sz="1100" dirty="0"/>
          </a:p>
        </p:txBody>
      </p:sp>
      <p:sp>
        <p:nvSpPr>
          <p:cNvPr id="25" name="Text 19"/>
          <p:cNvSpPr/>
          <p:nvPr/>
        </p:nvSpPr>
        <p:spPr>
          <a:xfrm>
            <a:off x="7461052" y="7588091"/>
            <a:ext cx="3448288" cy="181451"/>
          </a:xfrm>
          <a:prstGeom prst="rect">
            <a:avLst/>
          </a:prstGeom>
          <a:noFill/>
          <a:ln/>
        </p:spPr>
        <p:txBody>
          <a:bodyPr wrap="none" lIns="0" tIns="0" rIns="0" bIns="0" rtlCol="0" anchor="t"/>
          <a:lstStyle/>
          <a:p>
            <a:pPr algn="l" indent="0" marL="0">
              <a:lnSpc>
                <a:spcPts val="1400"/>
              </a:lnSpc>
              <a:buNone/>
            </a:pPr>
            <a:r>
              <a:rPr lang="en-US" sz="850" b="1" dirty="0">
                <a:solidFill>
                  <a:srgbClr val="E5DCE6"/>
                </a:solidFill>
                <a:latin typeface="Montserrat" pitchFamily="34" charset="0"/>
                <a:ea typeface="Montserrat" pitchFamily="34" charset="-122"/>
                <a:cs typeface="Montserrat" pitchFamily="34" charset="-120"/>
              </a:rPr>
              <a:t>XAMPP (MariaDB)</a:t>
            </a:r>
            <a:pPr algn="l" indent="0" marL="0">
              <a:lnSpc>
                <a:spcPts val="1400"/>
              </a:lnSpc>
              <a:buNone/>
            </a:pPr>
            <a:r>
              <a:rPr lang="en-US" sz="850" dirty="0">
                <a:solidFill>
                  <a:srgbClr val="E5DCE6"/>
                </a:solidFill>
                <a:latin typeface="Montserrat" pitchFamily="34" charset="0"/>
                <a:ea typeface="Montserrat" pitchFamily="34" charset="-122"/>
                <a:cs typeface="Montserrat" pitchFamily="34" charset="-120"/>
              </a:rPr>
              <a:t> • </a:t>
            </a:r>
            <a:pPr algn="l" indent="0" marL="0">
              <a:lnSpc>
                <a:spcPts val="1400"/>
              </a:lnSpc>
              <a:buNone/>
            </a:pPr>
            <a:r>
              <a:rPr lang="en-US" sz="850" b="1" dirty="0">
                <a:solidFill>
                  <a:srgbClr val="E5DCE6"/>
                </a:solidFill>
                <a:latin typeface="Montserrat" pitchFamily="34" charset="0"/>
                <a:ea typeface="Montserrat" pitchFamily="34" charset="-122"/>
                <a:cs typeface="Montserrat" pitchFamily="34" charset="-120"/>
              </a:rPr>
              <a:t>phpMyAdmin</a:t>
            </a:r>
            <a:pPr algn="l" indent="0" marL="0">
              <a:lnSpc>
                <a:spcPts val="1400"/>
              </a:lnSpc>
              <a:buNone/>
            </a:pPr>
            <a:r>
              <a:rPr lang="en-US" sz="850" dirty="0">
                <a:solidFill>
                  <a:srgbClr val="E5DCE6"/>
                </a:solidFill>
                <a:latin typeface="Montserrat" pitchFamily="34" charset="0"/>
                <a:ea typeface="Montserrat" pitchFamily="34" charset="-122"/>
                <a:cs typeface="Montserrat" pitchFamily="34" charset="-120"/>
              </a:rPr>
              <a:t> • </a:t>
            </a:r>
            <a:pPr algn="l" indent="0" marL="0">
              <a:lnSpc>
                <a:spcPts val="1400"/>
              </a:lnSpc>
              <a:buNone/>
            </a:pPr>
            <a:r>
              <a:rPr lang="en-US" sz="850" b="1" dirty="0">
                <a:solidFill>
                  <a:srgbClr val="E5DCE6"/>
                </a:solidFill>
                <a:latin typeface="Montserrat" pitchFamily="34" charset="0"/>
                <a:ea typeface="Montserrat" pitchFamily="34" charset="-122"/>
                <a:cs typeface="Montserrat" pitchFamily="34" charset="-120"/>
              </a:rPr>
              <a:t>mysqldump</a:t>
            </a:r>
            <a:endParaRPr lang="en-US" sz="850" dirty="0"/>
          </a:p>
        </p:txBody>
      </p:sp>
      <p:sp>
        <p:nvSpPr>
          <p:cNvPr id="26" name="Text 20"/>
          <p:cNvSpPr/>
          <p:nvPr/>
        </p:nvSpPr>
        <p:spPr>
          <a:xfrm>
            <a:off x="7461052" y="7871579"/>
            <a:ext cx="3448288" cy="362903"/>
          </a:xfrm>
          <a:prstGeom prst="rect">
            <a:avLst/>
          </a:prstGeom>
          <a:noFill/>
          <a:ln/>
        </p:spPr>
        <p:txBody>
          <a:bodyPr wrap="square" lIns="0" tIns="0" rIns="0" bIns="0" rtlCol="0" anchor="t"/>
          <a:lstStyle/>
          <a:p>
            <a:pPr algn="l" indent="0" marL="0">
              <a:lnSpc>
                <a:spcPts val="1400"/>
              </a:lnSpc>
              <a:buNone/>
            </a:pPr>
            <a:r>
              <a:rPr lang="en-US" sz="850" i="1" dirty="0">
                <a:solidFill>
                  <a:srgbClr val="E5DCE6"/>
                </a:solidFill>
                <a:latin typeface="Montserrat" pitchFamily="34" charset="0"/>
                <a:ea typeface="Montserrat" pitchFamily="34" charset="-122"/>
                <a:cs typeface="Montserrat" pitchFamily="34" charset="-120"/>
              </a:rPr>
              <a:t>Déploiement en 10 minutes | Sécurité prête pour l'entreprise | Équipe IT de PME</a:t>
            </a:r>
            <a:endParaRPr lang="en-US" sz="850" dirty="0"/>
          </a:p>
        </p:txBody>
      </p:sp>
      <p:sp>
        <p:nvSpPr>
          <p:cNvPr id="27" name="Text 21"/>
          <p:cNvSpPr/>
          <p:nvPr/>
        </p:nvSpPr>
        <p:spPr>
          <a:xfrm>
            <a:off x="3728442" y="8464034"/>
            <a:ext cx="7173397" cy="181451"/>
          </a:xfrm>
          <a:prstGeom prst="rect">
            <a:avLst/>
          </a:prstGeom>
          <a:noFill/>
          <a:ln/>
        </p:spPr>
        <p:txBody>
          <a:bodyPr wrap="none" lIns="0" tIns="0" rIns="0" bIns="0" rtlCol="0" anchor="t"/>
          <a:lstStyle/>
          <a:p>
            <a:pPr algn="l" indent="0" marL="0">
              <a:lnSpc>
                <a:spcPts val="1400"/>
              </a:lnSpc>
              <a:buNone/>
            </a:pPr>
            <a:r>
              <a:rPr lang="en-US" sz="850" dirty="0">
                <a:solidFill>
                  <a:srgbClr val="E5DCE6"/>
                </a:solidFill>
                <a:latin typeface="Montserrat" pitchFamily="34" charset="0"/>
                <a:ea typeface="Montserrat" pitchFamily="34" charset="-122"/>
                <a:cs typeface="Montserrat" pitchFamily="34" charset="-120"/>
              </a:rPr>
              <a:t>                                                                                                                                                                                                          Page 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1826776"/>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EEAEF6"/>
                </a:solidFill>
                <a:latin typeface="Bricolage Grotesque Extra Bold" pitchFamily="34" charset="0"/>
                <a:ea typeface="Bricolage Grotesque Extra Bold" pitchFamily="34" charset="-122"/>
                <a:cs typeface="Bricolage Grotesque Extra Bold" pitchFamily="34" charset="-120"/>
              </a:rPr>
              <a:t>Conclusion</a:t>
            </a:r>
            <a:endParaRPr lang="en-US" sz="4450" dirty="0"/>
          </a:p>
        </p:txBody>
      </p:sp>
      <p:sp>
        <p:nvSpPr>
          <p:cNvPr id="3" name="Text 1"/>
          <p:cNvSpPr/>
          <p:nvPr/>
        </p:nvSpPr>
        <p:spPr>
          <a:xfrm>
            <a:off x="793790" y="2989183"/>
            <a:ext cx="13042821" cy="1814513"/>
          </a:xfrm>
          <a:prstGeom prst="rect">
            <a:avLst/>
          </a:prstGeom>
          <a:noFill/>
          <a:ln/>
        </p:spPr>
        <p:txBody>
          <a:bodyPr wrap="square" lIns="0" tIns="0" rIns="0" bIns="0" rtlCol="0" anchor="t"/>
          <a:lstStyle/>
          <a:p>
            <a:pPr algn="l" indent="0" marL="0">
              <a:lnSpc>
                <a:spcPts val="2850"/>
              </a:lnSpc>
              <a:buNone/>
            </a:pPr>
            <a:r>
              <a:rPr lang="en-US" sz="1750" dirty="0">
                <a:solidFill>
                  <a:srgbClr val="E5DCE6"/>
                </a:solidFill>
                <a:latin typeface="Montserrat" pitchFamily="34" charset="0"/>
                <a:ea typeface="Montserrat" pitchFamily="34" charset="-122"/>
                <a:cs typeface="Montserrat" pitchFamily="34" charset="-120"/>
              </a:rPr>
              <a:t>Nous avons mené à bien le déploiement complet d'une instance MariaDB prête pour la production, intégrant des contrôles de sécurité de niveau entreprise et une gestion d'accès basée sur les rôles adhérant au principe du moindre privilège. De plus, des procédures fiables de sauvegarde et de récupération d'urgence ont été mises en place, garantissant la résilience des données. Le système est désormais entièrement opérationnel et prêt à supporter les applications critiques pour l'entreprise.</a:t>
            </a:r>
            <a:endParaRPr lang="en-US" sz="1750" dirty="0"/>
          </a:p>
        </p:txBody>
      </p:sp>
      <p:sp>
        <p:nvSpPr>
          <p:cNvPr id="4" name="Text 2"/>
          <p:cNvSpPr/>
          <p:nvPr/>
        </p:nvSpPr>
        <p:spPr>
          <a:xfrm>
            <a:off x="793790" y="5058847"/>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E5DCE6"/>
                </a:solidFill>
                <a:latin typeface="Montserrat" pitchFamily="34" charset="0"/>
                <a:ea typeface="Montserrat" pitchFamily="34" charset="-122"/>
                <a:cs typeface="Montserrat" pitchFamily="34" charset="-120"/>
              </a:rPr>
              <a:t>Il est impératif de souligner l'importance d'une surveillance continue de la sécurité et d'une maintenance régulière pour préserver l'intégrité et la robustesse de cette infrastructure.</a:t>
            </a:r>
            <a:endParaRPr lang="en-US" sz="1750" dirty="0"/>
          </a:p>
        </p:txBody>
      </p:sp>
      <p:sp>
        <p:nvSpPr>
          <p:cNvPr id="5" name="Text 3"/>
          <p:cNvSpPr/>
          <p:nvPr/>
        </p:nvSpPr>
        <p:spPr>
          <a:xfrm>
            <a:off x="793790" y="6039803"/>
            <a:ext cx="13042821" cy="362903"/>
          </a:xfrm>
          <a:prstGeom prst="rect">
            <a:avLst/>
          </a:prstGeom>
          <a:noFill/>
          <a:ln/>
        </p:spPr>
        <p:txBody>
          <a:bodyPr wrap="none" lIns="0" tIns="0" rIns="0" bIns="0" rtlCol="0" anchor="t"/>
          <a:lstStyle/>
          <a:p>
            <a:pPr algn="r" indent="0" marL="0">
              <a:lnSpc>
                <a:spcPts val="2850"/>
              </a:lnSpc>
              <a:buNone/>
            </a:pPr>
            <a:r>
              <a:rPr lang="en-US" sz="1750" dirty="0">
                <a:solidFill>
                  <a:srgbClr val="E5DCE6"/>
                </a:solidFill>
                <a:latin typeface="Montserrat" pitchFamily="34" charset="0"/>
                <a:ea typeface="Montserrat" pitchFamily="34" charset="-122"/>
                <a:cs typeface="Montserrat" pitchFamily="34" charset="-120"/>
              </a:rPr>
              <a:t>Page 12</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2026-01-15T07:03:57Z</dcterms:created>
  <dcterms:modified xsi:type="dcterms:W3CDTF">2026-01-15T07:03:57Z</dcterms:modified>
</cp:coreProperties>
</file>